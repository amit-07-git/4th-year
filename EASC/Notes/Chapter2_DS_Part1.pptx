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594360" y="274319"/>
            <a:ext cx="2172554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Data Structures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31519" y="1051559"/>
            <a:ext cx="10698482" cy="3774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Programs are composed of algorithms and data structures.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Some simple data types are int, float and str.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Data structures have a much more complex structure than simple data types.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In applied CS, a data structure is a set of objects that may only be manipulated by means of well-defined operations.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Data structure = object + operations.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Data are organized in a way that is ideal for the particular task in order to access them as efficiently as possible.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Python has the following built-in data structures: tuples, lists, dictionaries and sets.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594360" y="274319"/>
            <a:ext cx="1637368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2.5.1 Tuples</a:t>
            </a:r>
          </a:p>
        </p:txBody>
      </p:sp>
      <p:sp>
        <p:nvSpPr>
          <p:cNvPr id="98" name="TextBox 2"/>
          <p:cNvSpPr txBox="1"/>
          <p:nvPr/>
        </p:nvSpPr>
        <p:spPr>
          <a:xfrm>
            <a:off x="731519" y="1051559"/>
            <a:ext cx="10698482" cy="2986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tuple is a sequence of elements that are iterable but cannot be modified.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elements of a tuple do not all need to be of the same type.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immutability of the elements is the decisive characteristic of a tuple.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tuple can be defined by enclosing the elements in parentheses separated by commas.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Example: t = (2, 4, 6)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Individual elements of a tuple can only be accessed in read-only mode.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594360" y="274319"/>
            <a:ext cx="4860985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Tuples: Creation, Indexing and Type</a:t>
            </a:r>
          </a:p>
        </p:txBody>
      </p:sp>
      <p:grpSp>
        <p:nvGrpSpPr>
          <p:cNvPr id="103" name="Rounded Rectangle 2"/>
          <p:cNvGrpSpPr/>
          <p:nvPr/>
        </p:nvGrpSpPr>
        <p:grpSpPr>
          <a:xfrm>
            <a:off x="685800" y="960119"/>
            <a:ext cx="10789920" cy="5440681"/>
            <a:chOff x="0" y="0"/>
            <a:chExt cx="10789919" cy="5440679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10789920" cy="544068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02" name="t = (2, 4, 6)  print(t) # (2, 4, 6)  print(t[1]) # 4  t[1] = 8 # TypeError: tuple object does not support item assignment  print(type(t)) # &lt;class 'tuple'&gt;"/>
            <p:cNvSpPr txBox="1"/>
            <p:nvPr/>
          </p:nvSpPr>
          <p:spPr>
            <a:xfrm>
              <a:off x="316074" y="274320"/>
              <a:ext cx="10157772" cy="4892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t = (2, 4, 6)</a:t>
              </a:r>
              <a:br/>
              <a:br/>
              <a:r>
                <a:t>print(t)</a:t>
              </a:r>
              <a:br/>
              <a:r>
                <a:t># (2, 4, 6)</a:t>
              </a:r>
              <a:br/>
              <a:br/>
              <a:r>
                <a:t>print(t[1])</a:t>
              </a:r>
              <a:br/>
              <a:r>
                <a:t># 4</a:t>
              </a:r>
              <a:br/>
              <a:br/>
              <a:r>
                <a:t>t[1] = 8</a:t>
              </a:r>
              <a:br/>
              <a:r>
                <a:t># TypeError: tuple object does not support item assignment</a:t>
              </a:r>
              <a:br/>
              <a:br/>
              <a:r>
                <a:t>print(type(t))</a:t>
              </a:r>
              <a:br/>
              <a:r>
                <a:t># &lt;class 'tuple'&gt;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 txBox="1"/>
          <p:nvPr/>
        </p:nvSpPr>
        <p:spPr>
          <a:xfrm>
            <a:off x="594360" y="274319"/>
            <a:ext cx="2591058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Tuples: Operations</a:t>
            </a:r>
          </a:p>
        </p:txBody>
      </p:sp>
      <p:grpSp>
        <p:nvGrpSpPr>
          <p:cNvPr id="108" name="Rounded Rectangle 2"/>
          <p:cNvGrpSpPr/>
          <p:nvPr/>
        </p:nvGrpSpPr>
        <p:grpSpPr>
          <a:xfrm>
            <a:off x="685800" y="914400"/>
            <a:ext cx="10789920" cy="5486400"/>
            <a:chOff x="0" y="0"/>
            <a:chExt cx="10789919" cy="5486400"/>
          </a:xfrm>
        </p:grpSpPr>
        <p:sp>
          <p:nvSpPr>
            <p:cNvPr id="106" name="Rounded Rectangle"/>
            <p:cNvSpPr/>
            <p:nvPr/>
          </p:nvSpPr>
          <p:spPr>
            <a:xfrm>
              <a:off x="0" y="0"/>
              <a:ext cx="10789920" cy="54864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07" name="t1 = (1, 2, 3) t2 = (4, 5, 6)  t3 = t1 + t2       # Concatenation t4 = 3 * t2        # Three copies of t2  print(&quot;Tuple1:&quot;, t1) print(&quot;Tuple2:&quot;, t2) print(&quot;Tuple3:&quot;, t3) print(&quot;Tuple4:&quot;, t4)  print(&quot;Third object of t3:&quot;, t3[2]) print(&quot;Are t1 and t2 the s"/>
            <p:cNvSpPr txBox="1"/>
            <p:nvPr/>
          </p:nvSpPr>
          <p:spPr>
            <a:xfrm>
              <a:off x="318306" y="297180"/>
              <a:ext cx="10153308" cy="4892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t1 = (1, 2, 3)</a:t>
              </a:r>
              <a:br/>
              <a:r>
                <a:t>t2 = (4, 5, 6)</a:t>
              </a:r>
              <a:br/>
              <a:br/>
              <a:r>
                <a:t>t3 = t1 + t2       # Concatenation</a:t>
              </a:r>
              <a:br/>
              <a:r>
                <a:t>t4 = 3 * t2        # Three copies of t2</a:t>
              </a:r>
              <a:br/>
              <a:br/>
              <a:r>
                <a:t>print("Tuple1:", t1)</a:t>
              </a:r>
              <a:br/>
              <a:r>
                <a:t>print("Tuple2:", t2)</a:t>
              </a:r>
              <a:br/>
              <a:r>
                <a:t>print("Tuple3:", t3)</a:t>
              </a:r>
              <a:br/>
              <a:r>
                <a:t>print("Tuple4:", t4)</a:t>
              </a:r>
              <a:br/>
              <a:br/>
              <a:r>
                <a:t>print("Third object of t3:", t3[2])</a:t>
              </a:r>
              <a:br/>
              <a:r>
                <a:t>print("Are t1 and t2 the same?", t1 == t2)</a:t>
              </a:r>
              <a:br/>
              <a:r>
                <a:t>print("t3 belongs to:", type(t3))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 txBox="1"/>
          <p:nvPr/>
        </p:nvSpPr>
        <p:spPr>
          <a:xfrm>
            <a:off x="594360" y="274319"/>
            <a:ext cx="1052771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11" name="TextBox 2"/>
          <p:cNvSpPr txBox="1"/>
          <p:nvPr/>
        </p:nvSpPr>
        <p:spPr>
          <a:xfrm>
            <a:off x="731519" y="1051559"/>
            <a:ext cx="10698482" cy="3088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Tuple3 contains (1, 2, 3, 4, 5, 6).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Tuple4 contains (4, 5, 6, 4, 5, 6, 4, 5, 6).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third object of t3 has the value 3.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Are t1 and t2 the same? False.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t3 belongs to: &lt;class 'tuple'&gt;.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tuple has its own identity; each element of a tuple also has its own identity.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Each tuple element can be accessed in read-only mode.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 txBox="1"/>
          <p:nvPr/>
        </p:nvSpPr>
        <p:spPr>
          <a:xfrm>
            <a:off x="594360" y="274319"/>
            <a:ext cx="2729766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Tuples in a for Loop</a:t>
            </a:r>
          </a:p>
        </p:txBody>
      </p:sp>
      <p:sp>
        <p:nvSpPr>
          <p:cNvPr id="114" name="TextBox 2"/>
          <p:cNvSpPr txBox="1"/>
          <p:nvPr/>
        </p:nvSpPr>
        <p:spPr>
          <a:xfrm>
            <a:off x="731519" y="914400"/>
            <a:ext cx="10698482" cy="131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In a for loop, the counter variable can also iterate over tuples.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Each element is accessed one after another.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Example:</a:t>
            </a:r>
          </a:p>
        </p:txBody>
      </p:sp>
      <p:grpSp>
        <p:nvGrpSpPr>
          <p:cNvPr id="117" name="Rounded Rectangle 3"/>
          <p:cNvGrpSpPr/>
          <p:nvPr/>
        </p:nvGrpSpPr>
        <p:grpSpPr>
          <a:xfrm>
            <a:off x="685800" y="2743200"/>
            <a:ext cx="10789920" cy="1828800"/>
            <a:chOff x="0" y="0"/>
            <a:chExt cx="10789919" cy="1828800"/>
          </a:xfrm>
        </p:grpSpPr>
        <p:sp>
          <p:nvSpPr>
            <p:cNvPr id="115" name="Rounded Rectangle"/>
            <p:cNvSpPr/>
            <p:nvPr/>
          </p:nvSpPr>
          <p:spPr>
            <a:xfrm>
              <a:off x="0" y="0"/>
              <a:ext cx="10789920" cy="18288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16" name="for i in (&quot;Iron&quot;, &quot;Calcium&quot;, &quot;Vitamin&quot;):     print(i, end=&quot; &quot;)"/>
            <p:cNvSpPr txBox="1"/>
            <p:nvPr/>
          </p:nvSpPr>
          <p:spPr>
            <a:xfrm>
              <a:off x="139757" y="525780"/>
              <a:ext cx="10510406" cy="777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for i in ("Iron", "Calcium", "Vitamin"):</a:t>
              </a:r>
              <a:br/>
              <a:r>
                <a:t>    print(i, end=" ")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 txBox="1"/>
          <p:nvPr/>
        </p:nvSpPr>
        <p:spPr>
          <a:xfrm>
            <a:off x="594360" y="274319"/>
            <a:ext cx="4086632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Are Tuples Really Immutable?</a:t>
            </a:r>
          </a:p>
        </p:txBody>
      </p:sp>
      <p:sp>
        <p:nvSpPr>
          <p:cNvPr id="120" name="TextBox 2"/>
          <p:cNvSpPr txBox="1"/>
          <p:nvPr/>
        </p:nvSpPr>
        <p:spPr>
          <a:xfrm>
            <a:off x="731519" y="1051559"/>
            <a:ext cx="10698482" cy="288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To swap two variables: a[i], a[i+1] = a[i+1], a[i].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Tuples are meant to be immutable, but during an exchange process the values of two variables can be changed.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After swapping, variable a can have value 20 and b can have value 10.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values and IDs of a and b change because the variables now refer to different integer objects.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value and ID of tuple t do not change.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 txBox="1"/>
          <p:nvPr/>
        </p:nvSpPr>
        <p:spPr>
          <a:xfrm>
            <a:off x="594360" y="274319"/>
            <a:ext cx="2968462" cy="43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Tuple Swap Example</a:t>
            </a:r>
          </a:p>
        </p:txBody>
      </p:sp>
      <p:grpSp>
        <p:nvGrpSpPr>
          <p:cNvPr id="125" name="Rounded Rectangle 2"/>
          <p:cNvGrpSpPr/>
          <p:nvPr/>
        </p:nvGrpSpPr>
        <p:grpSpPr>
          <a:xfrm>
            <a:off x="685800" y="822960"/>
            <a:ext cx="10789920" cy="5577841"/>
            <a:chOff x="0" y="0"/>
            <a:chExt cx="10789919" cy="5577840"/>
          </a:xfrm>
        </p:grpSpPr>
        <p:sp>
          <p:nvSpPr>
            <p:cNvPr id="123" name="Rounded Rectangle"/>
            <p:cNvSpPr/>
            <p:nvPr/>
          </p:nvSpPr>
          <p:spPr>
            <a:xfrm>
              <a:off x="0" y="0"/>
              <a:ext cx="10789920" cy="5577841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24" name="a, b = 10, 20 t = (a, b)…"/>
            <p:cNvSpPr txBox="1"/>
            <p:nvPr/>
          </p:nvSpPr>
          <p:spPr>
            <a:xfrm>
              <a:off x="322770" y="514349"/>
              <a:ext cx="10144380" cy="454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a, b = 10, 20</a:t>
              </a:r>
              <a:br/>
              <a:r>
                <a:t>t = (a, b)</a:t>
              </a:r>
            </a:p>
            <a:p>
              <a: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print("----- before -----")</a:t>
              </a:r>
              <a:br/>
              <a:r>
                <a:t>print("Value of a =", a, "id of a =", id(a))</a:t>
              </a:r>
              <a:br/>
              <a:r>
                <a:t>print("Value of b =", b, "id of b =", id(b))</a:t>
              </a:r>
              <a:br/>
              <a:r>
                <a:t>print("Value of t =", t, "id of t =", id(t))</a:t>
              </a:r>
              <a:br/>
              <a:br/>
              <a:r>
                <a:t>a, b = b, a</a:t>
              </a:r>
              <a:br/>
              <a:br/>
              <a:r>
                <a:t>print("----- after -----")</a:t>
              </a:r>
              <a:br/>
              <a:r>
                <a:t>print("Value of a =", a, "id of a =", id(a))</a:t>
              </a:r>
              <a:br/>
              <a:r>
                <a:t>print("Value of b =", b, "id of b =", id(b))</a:t>
              </a:r>
              <a:br/>
              <a:r>
                <a:t>print("Value of t =", t, "id of t =", id(t))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 txBox="1"/>
          <p:nvPr/>
        </p:nvSpPr>
        <p:spPr>
          <a:xfrm>
            <a:off x="594360" y="274319"/>
            <a:ext cx="756969" cy="43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Lists</a:t>
            </a:r>
          </a:p>
        </p:txBody>
      </p:sp>
      <p:sp>
        <p:nvSpPr>
          <p:cNvPr id="128" name="TextBox 2"/>
          <p:cNvSpPr txBox="1"/>
          <p:nvPr/>
        </p:nvSpPr>
        <p:spPr>
          <a:xfrm>
            <a:off x="731519" y="1051559"/>
            <a:ext cx="10698482" cy="3532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list is an ordered collection of various objects.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values contained in the list are referred to as elements.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list itself is also considered an object.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special property of a list is that its length can be changed at runtime.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Python recognizes a list definition by square brackets in which the elements are embedded.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Lists themselves can also be composed of lists.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range() enables lists to be generated automatically.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594360" y="274319"/>
            <a:ext cx="3202742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Lists: range() Examples</a:t>
            </a:r>
          </a:p>
        </p:txBody>
      </p:sp>
      <p:grpSp>
        <p:nvGrpSpPr>
          <p:cNvPr id="133" name="Rounded Rectangle 2"/>
          <p:cNvGrpSpPr/>
          <p:nvPr/>
        </p:nvGrpSpPr>
        <p:grpSpPr>
          <a:xfrm>
            <a:off x="685800" y="1005839"/>
            <a:ext cx="10789920" cy="5212081"/>
            <a:chOff x="0" y="0"/>
            <a:chExt cx="10789919" cy="5212079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10789920" cy="521208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32" name="list(range(10)) # [0, 1, 2, 3, 4, 5, 6, 7, 8, 9]  list(range(2, 10, 2)) # [2, 4, 6, 8]  list(range(1, 10, 2)) # [1, 3, 5, 7, 9]"/>
            <p:cNvSpPr txBox="1"/>
            <p:nvPr/>
          </p:nvSpPr>
          <p:spPr>
            <a:xfrm>
              <a:off x="304915" y="1087119"/>
              <a:ext cx="10180090" cy="303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list(range(10))</a:t>
              </a:r>
              <a:br/>
              <a:r>
                <a:t># [0, 1, 2, 3, 4, 5, 6, 7, 8, 9]</a:t>
              </a:r>
              <a:br/>
              <a:br/>
              <a:r>
                <a:t>list(range(2, 10, 2))</a:t>
              </a:r>
              <a:br/>
              <a:r>
                <a:t># [2, 4, 6, 8]</a:t>
              </a:r>
              <a:br/>
              <a:br/>
              <a:r>
                <a:t>list(range(1, 10, 2))</a:t>
              </a:r>
              <a:br/>
              <a:r>
                <a:t># [1, 3, 5, 7, 9]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 txBox="1"/>
          <p:nvPr/>
        </p:nvSpPr>
        <p:spPr>
          <a:xfrm>
            <a:off x="594360" y="274319"/>
            <a:ext cx="3855502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Lists: Indexing and Iteration</a:t>
            </a:r>
          </a:p>
        </p:txBody>
      </p:sp>
      <p:sp>
        <p:nvSpPr>
          <p:cNvPr id="136" name="TextBox 2"/>
          <p:cNvSpPr txBox="1"/>
          <p:nvPr/>
        </p:nvSpPr>
        <p:spPr>
          <a:xfrm>
            <a:off x="731519" y="1051559"/>
            <a:ext cx="10698482" cy="2542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elements of a list can be accessed using indices.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Each element is assigned an index; counting starts with index 0.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index can be used for read and write access to individual elements.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counter variable can also iterate over a list in a for loop.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Example values: index 0, 1, 2, 3, 4 correspond to the first, second, third, fourth and fifth elements.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 txBox="1"/>
          <p:nvPr/>
        </p:nvSpPr>
        <p:spPr>
          <a:xfrm>
            <a:off x="594360" y="274319"/>
            <a:ext cx="3273733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Lists: for Loop Example</a:t>
            </a:r>
          </a:p>
        </p:txBody>
      </p:sp>
      <p:grpSp>
        <p:nvGrpSpPr>
          <p:cNvPr id="141" name="Rounded Rectangle 2"/>
          <p:cNvGrpSpPr/>
          <p:nvPr/>
        </p:nvGrpSpPr>
        <p:grpSpPr>
          <a:xfrm>
            <a:off x="685800" y="1828800"/>
            <a:ext cx="10789920" cy="2286000"/>
            <a:chOff x="0" y="0"/>
            <a:chExt cx="10789919" cy="2286000"/>
          </a:xfrm>
        </p:grpSpPr>
        <p:sp>
          <p:nvSpPr>
            <p:cNvPr id="139" name="Rounded Rectangle"/>
            <p:cNvSpPr/>
            <p:nvPr/>
          </p:nvSpPr>
          <p:spPr>
            <a:xfrm>
              <a:off x="0" y="0"/>
              <a:ext cx="10789920" cy="22860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40" name="for i in [1, 3, 5, 7, 9]:     print(i + 1, end=&quot;;&quot;)  # 2; 4; 6; 8; 10;"/>
            <p:cNvSpPr txBox="1"/>
            <p:nvPr/>
          </p:nvSpPr>
          <p:spPr>
            <a:xfrm>
              <a:off x="162075" y="360679"/>
              <a:ext cx="10465770" cy="156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for i in [1, 3, 5, 7, 9]:</a:t>
              </a:r>
              <a:br/>
              <a:r>
                <a:t>    print(i + 1, end=";")</a:t>
              </a:r>
              <a:br/>
              <a:br/>
              <a:r>
                <a:t># 2; 4; 6; 8; 10;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 txBox="1"/>
          <p:nvPr/>
        </p:nvSpPr>
        <p:spPr>
          <a:xfrm>
            <a:off x="594360" y="274319"/>
            <a:ext cx="5237781" cy="43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Common List Functions and Methods</a:t>
            </a:r>
          </a:p>
        </p:txBody>
      </p:sp>
      <p:sp>
        <p:nvSpPr>
          <p:cNvPr id="144" name="TextBox 2"/>
          <p:cNvSpPr txBox="1"/>
          <p:nvPr/>
        </p:nvSpPr>
        <p:spPr>
          <a:xfrm>
            <a:off x="731519" y="777240"/>
            <a:ext cx="10698482" cy="591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Functions: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•n = len(l) → returns the number of elements.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l2 = sorted(l1) → returns the sorted list l1.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 = sum(l) → returns the sum of list l.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mi = min(l) → returns the smallest element.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 = max(l) → returns the largest element.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l3 = zip(l1, l2) → connects list l1 and l2 to l3.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Methods: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l1.extend(l2) → appends list l2 to list l1 at the end.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l.append(e) → appends element e to the end.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l.remove(e) → removes element e.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l.insert(i, e) → inserts element e at position i.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l.count(e) → determines the number of occurrences of 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 txBox="1"/>
          <p:nvPr/>
        </p:nvSpPr>
        <p:spPr>
          <a:xfrm>
            <a:off x="594360" y="274319"/>
            <a:ext cx="5759609" cy="43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Difference Between Function and Method</a:t>
            </a:r>
          </a:p>
        </p:txBody>
      </p:sp>
      <p:sp>
        <p:nvSpPr>
          <p:cNvPr id="147" name="TextBox 2"/>
          <p:cNvSpPr txBox="1"/>
          <p:nvPr/>
        </p:nvSpPr>
        <p:spPr>
          <a:xfrm>
            <a:off x="731519" y="1051559"/>
            <a:ext cx="10698482" cy="1805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Methods are functions that are defined within a class.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To use methods, an object must be created beforehand.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function is called using function_name(parameters), e.g. sorted(l1).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method is called using object.method_name(parameters), e.g. l1.extend(l2).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 txBox="1"/>
          <p:nvPr/>
        </p:nvSpPr>
        <p:spPr>
          <a:xfrm>
            <a:off x="594360" y="274319"/>
            <a:ext cx="4411375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Connecting Two Lists Using zip()</a:t>
            </a:r>
          </a:p>
        </p:txBody>
      </p:sp>
      <p:grpSp>
        <p:nvGrpSpPr>
          <p:cNvPr id="152" name="Rounded Rectangle 2"/>
          <p:cNvGrpSpPr/>
          <p:nvPr/>
        </p:nvGrpSpPr>
        <p:grpSpPr>
          <a:xfrm>
            <a:off x="685800" y="1143000"/>
            <a:ext cx="10789920" cy="3657600"/>
            <a:chOff x="0" y="0"/>
            <a:chExt cx="10789919" cy="3657600"/>
          </a:xfrm>
        </p:grpSpPr>
        <p:sp>
          <p:nvSpPr>
            <p:cNvPr id="150" name="Rounded Rectangle"/>
            <p:cNvSpPr/>
            <p:nvPr/>
          </p:nvSpPr>
          <p:spPr>
            <a:xfrm>
              <a:off x="0" y="0"/>
              <a:ext cx="10789920" cy="36576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51" name="x = [1, 2, 3] y = [4, 5, 6]  zipped = zip(x, y)  print(list(zipped)) # [(1, 4), (2, 5), (3, 6)]"/>
            <p:cNvSpPr txBox="1"/>
            <p:nvPr/>
          </p:nvSpPr>
          <p:spPr>
            <a:xfrm>
              <a:off x="229031" y="494029"/>
              <a:ext cx="10331858" cy="2669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x = [1, 2, 3]</a:t>
              </a:r>
              <a:br/>
              <a:r>
                <a:t>y = [4, 5, 6]</a:t>
              </a:r>
              <a:br/>
              <a:br/>
              <a:r>
                <a:t>zipped = zip(x, y)</a:t>
              </a:r>
              <a:br/>
              <a:br/>
              <a:r>
                <a:t>print(list(zipped))</a:t>
              </a:r>
              <a:br/>
              <a:r>
                <a:t># [(1, 4), (2, 5), (3, 6)]</a:t>
              </a:r>
            </a:p>
          </p:txBody>
        </p:sp>
      </p:grpSp>
      <p:sp>
        <p:nvSpPr>
          <p:cNvPr id="153" name="TextBox 3"/>
          <p:cNvSpPr txBox="1"/>
          <p:nvPr/>
        </p:nvSpPr>
        <p:spPr>
          <a:xfrm>
            <a:off x="731519" y="5074920"/>
            <a:ext cx="10698482" cy="865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zip function creates a new sequence of tuples from the two lists x and y.</a:t>
            </a:r>
          </a:p>
          <a:p>
            <a:pPr>
              <a:spcBef>
                <a:spcPts val="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Each tuple contains the corresponding elements from the two lists.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 txBox="1"/>
          <p:nvPr/>
        </p:nvSpPr>
        <p:spPr>
          <a:xfrm>
            <a:off x="594360" y="274319"/>
            <a:ext cx="2661454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Operations on Lists</a:t>
            </a:r>
          </a:p>
        </p:txBody>
      </p:sp>
      <p:sp>
        <p:nvSpPr>
          <p:cNvPr id="156" name="import statistics as stat  l1 = [52.1, 48.7, 50.1, 49.6, 51.8] l2 = [50.5, 48.5, 49.5, 51.5, 48.8]  l1.extend(l2) s1 = sorted(l1)  n = len(s1) minimum = min(s1) maximum = max(s1) s = sum(s1) m = s / n u = maximum - minimum z = stat.median(s1)  print(&quot;Sor"/>
          <p:cNvSpPr txBox="1"/>
          <p:nvPr/>
        </p:nvSpPr>
        <p:spPr>
          <a:xfrm>
            <a:off x="4447092" y="24130"/>
            <a:ext cx="7268106" cy="680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statistics as stat</a:t>
            </a:r>
            <a:br/>
            <a:br/>
            <a:r>
              <a:t>l1 = [52.1, 48.7, 50.1, 49.6, 51.8]</a:t>
            </a:r>
            <a:br/>
            <a:r>
              <a:t>l2 = [50.5, 48.5, 49.5, 51.5, 48.8]</a:t>
            </a:r>
            <a:br/>
            <a:br/>
            <a:r>
              <a:t>l1.extend(l2)</a:t>
            </a:r>
            <a:br/>
            <a:r>
              <a:t>s1 = sorted(l1)</a:t>
            </a:r>
            <a:br/>
            <a:br/>
            <a:r>
              <a:t>n = len(s1)</a:t>
            </a:r>
            <a:br/>
            <a:r>
              <a:t>minimum = min(s1)</a:t>
            </a:r>
            <a:br/>
            <a:r>
              <a:t>maximum = max(s1)</a:t>
            </a:r>
            <a:br/>
            <a:r>
              <a:t>s = sum(s1)</a:t>
            </a:r>
            <a:br/>
            <a:r>
              <a:t>m = s / n</a:t>
            </a:r>
            <a:br/>
            <a:r>
              <a:t>u = maximum - minimum</a:t>
            </a:r>
            <a:br/>
            <a:r>
              <a:t>z = stat.median(s1)</a:t>
            </a:r>
            <a:br/>
            <a:br/>
            <a:r>
              <a:t>print("Sorted list:", s1)</a:t>
            </a:r>
            <a:br/>
            <a:r>
              <a:t>print("No of elements:", n)</a:t>
            </a:r>
            <a:br/>
            <a:r>
              <a:t>print("Minimum:", minimum, "Maximum:", maximum)</a:t>
            </a:r>
            <a:br/>
            <a:r>
              <a:t>print("Sum:", s)</a:t>
            </a:r>
            <a:br/>
            <a:r>
              <a:t>print("Mean:", m)</a:t>
            </a:r>
            <a:br/>
            <a:r>
              <a:t>print("Median:", z)</a:t>
            </a:r>
            <a:br/>
            <a:r>
              <a:t>print("Span:", u)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 txBox="1"/>
          <p:nvPr/>
        </p:nvSpPr>
        <p:spPr>
          <a:xfrm>
            <a:off x="594360" y="274319"/>
            <a:ext cx="1753342" cy="43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Nested Lists</a:t>
            </a:r>
          </a:p>
        </p:txBody>
      </p:sp>
      <p:sp>
        <p:nvSpPr>
          <p:cNvPr id="159" name="TextBox 2"/>
          <p:cNvSpPr txBox="1"/>
          <p:nvPr/>
        </p:nvSpPr>
        <p:spPr>
          <a:xfrm>
            <a:off x="731519" y="1051559"/>
            <a:ext cx="10698482" cy="1805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Nested lists are important for the representation of 2-D matrices with lists.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list can contain other lists as its elements.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Nested lists can be converted into NumPy arrays for numerical computation.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example below creates two nested lists and converts them to arrays.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 txBox="1"/>
          <p:nvPr/>
        </p:nvSpPr>
        <p:spPr>
          <a:xfrm>
            <a:off x="594360" y="274319"/>
            <a:ext cx="4913373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Nested Lists: NumPy Array Addition</a:t>
            </a:r>
          </a:p>
        </p:txBody>
      </p:sp>
      <p:grpSp>
        <p:nvGrpSpPr>
          <p:cNvPr id="164" name="Rounded Rectangle 2"/>
          <p:cNvGrpSpPr/>
          <p:nvPr/>
        </p:nvGrpSpPr>
        <p:grpSpPr>
          <a:xfrm>
            <a:off x="685800" y="914400"/>
            <a:ext cx="10789920" cy="5486400"/>
            <a:chOff x="0" y="0"/>
            <a:chExt cx="10789919" cy="5486400"/>
          </a:xfrm>
        </p:grpSpPr>
        <p:sp>
          <p:nvSpPr>
            <p:cNvPr id="162" name="Rounded Rectangle"/>
            <p:cNvSpPr/>
            <p:nvPr/>
          </p:nvSpPr>
          <p:spPr>
            <a:xfrm>
              <a:off x="0" y="0"/>
              <a:ext cx="10789920" cy="54864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63" name="from numpy import array  a = [[1, 2, 3], [4, 5, 6]] b = [[7, 8, 9], [10, 11, 12]]  A = array(a) B = array(b)  print(A) print(B) print(A + B)  # [[ 8 10 12] #  [14 16 18]]"/>
            <p:cNvSpPr txBox="1"/>
            <p:nvPr/>
          </p:nvSpPr>
          <p:spPr>
            <a:xfrm>
              <a:off x="318306" y="119380"/>
              <a:ext cx="10153308" cy="5247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from numpy import array</a:t>
              </a:r>
              <a:br/>
              <a:br/>
              <a:r>
                <a:t>a = [[1, 2, 3], [4, 5, 6]]</a:t>
              </a:r>
              <a:br/>
              <a:r>
                <a:t>b = [[7, 8, 9], [10, 11, 12]]</a:t>
              </a:r>
              <a:br/>
              <a:br/>
              <a:r>
                <a:t>A = array(a)</a:t>
              </a:r>
              <a:br/>
              <a:r>
                <a:t>B = array(b)</a:t>
              </a:r>
              <a:br/>
              <a:br/>
              <a:r>
                <a:t>print(A)</a:t>
              </a:r>
              <a:br/>
              <a:r>
                <a:t>print(B)</a:t>
              </a:r>
              <a:br/>
              <a:r>
                <a:t>print(A + B)</a:t>
              </a:r>
              <a:br/>
              <a:br/>
              <a:r>
                <a:t># [[ 8 10 12]</a:t>
              </a:r>
              <a:br/>
              <a:r>
                <a:t>#  [14 16 18]]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 txBox="1"/>
          <p:nvPr/>
        </p:nvSpPr>
        <p:spPr>
          <a:xfrm>
            <a:off x="594360" y="274319"/>
            <a:ext cx="2859166" cy="43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 Comprehension</a:t>
            </a:r>
          </a:p>
        </p:txBody>
      </p:sp>
      <p:sp>
        <p:nvSpPr>
          <p:cNvPr id="167" name="TextBox 2"/>
          <p:cNvSpPr txBox="1"/>
          <p:nvPr/>
        </p:nvSpPr>
        <p:spPr>
          <a:xfrm>
            <a:off x="731519" y="1051559"/>
            <a:ext cx="10698482" cy="2516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Python enables statements to be run within a list while the list is generated at runtime.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During runtime, its length can be changed at will.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This feature is referred to as list comprehension.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List comprehension provides a compact way to create a list by applying an expression to items from an iterable.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 txBox="1"/>
          <p:nvPr/>
        </p:nvSpPr>
        <p:spPr>
          <a:xfrm>
            <a:off x="594360" y="274319"/>
            <a:ext cx="5559882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List Comprehension: Pythagorean Triples</a:t>
            </a:r>
          </a:p>
        </p:txBody>
      </p:sp>
      <p:grpSp>
        <p:nvGrpSpPr>
          <p:cNvPr id="172" name="Rounded Rectangle 2"/>
          <p:cNvGrpSpPr/>
          <p:nvPr/>
        </p:nvGrpSpPr>
        <p:grpSpPr>
          <a:xfrm>
            <a:off x="685800" y="914400"/>
            <a:ext cx="10789920" cy="5394960"/>
            <a:chOff x="0" y="0"/>
            <a:chExt cx="10789919" cy="5394959"/>
          </a:xfrm>
        </p:grpSpPr>
        <p:sp>
          <p:nvSpPr>
            <p:cNvPr id="170" name="Rounded Rectangle"/>
            <p:cNvSpPr/>
            <p:nvPr/>
          </p:nvSpPr>
          <p:spPr>
            <a:xfrm>
              <a:off x="0" y="0"/>
              <a:ext cx="10789920" cy="539496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9525" cap="flat">
              <a:solidFill>
                <a:srgbClr val="B4B4B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</a:p>
          </p:txBody>
        </p:sp>
        <p:sp>
          <p:nvSpPr>
            <p:cNvPr id="171" name="ug = 1 og = 20  p = [(a, b, c)      for a in range(ug, og)      for b in range(a, og)      for c in range(b, og)      if a**2 + b**2 == c**2]  print(p) print(&quot;Between&quot;, ug, &quot;and&quot;, og,       &quot;there are&quot;, len(p), &quot;Pythagorean triples.&quot;)"/>
            <p:cNvSpPr txBox="1"/>
            <p:nvPr/>
          </p:nvSpPr>
          <p:spPr>
            <a:xfrm>
              <a:off x="313842" y="441959"/>
              <a:ext cx="10162236" cy="451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5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ug = 1</a:t>
              </a:r>
              <a:br/>
              <a:r>
                <a:t>og = 20</a:t>
              </a:r>
              <a:br/>
              <a:br/>
              <a:r>
                <a:t>p = [(a, b, c)</a:t>
              </a:r>
              <a:br/>
              <a:r>
                <a:t>     for a in range(ug, og)</a:t>
              </a:r>
              <a:br/>
              <a:r>
                <a:t>     for b in range(a, og)</a:t>
              </a:r>
              <a:br/>
              <a:r>
                <a:t>     for c in range(b, og)</a:t>
              </a:r>
              <a:br/>
              <a:r>
                <a:t>     if a**2 + b**2 == c**2]</a:t>
              </a:r>
              <a:br/>
              <a:br/>
              <a:r>
                <a:t>print(p)</a:t>
              </a:r>
              <a:br/>
              <a:r>
                <a:t>print("Between", ug, "and", og,</a:t>
              </a:r>
              <a:br/>
              <a:r>
                <a:t>      "there are", len(p), "Pythagorean triples.")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 txBox="1"/>
          <p:nvPr/>
        </p:nvSpPr>
        <p:spPr>
          <a:xfrm>
            <a:off x="594360" y="274319"/>
            <a:ext cx="2923801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Pythagorean Triples: Output</a:t>
            </a:r>
          </a:p>
        </p:txBody>
      </p:sp>
      <p:sp>
        <p:nvSpPr>
          <p:cNvPr id="175" name="TextBox 2"/>
          <p:cNvSpPr txBox="1"/>
          <p:nvPr/>
        </p:nvSpPr>
        <p:spPr>
          <a:xfrm>
            <a:off x="731519" y="1051559"/>
            <a:ext cx="10698482" cy="145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Between 1 and 20, the notes show 5 Pythagorean triples.</a:t>
            </a:r>
          </a:p>
          <a:p>
            <a:pPr>
              <a:spcBef>
                <a:spcPts val="8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[(3, 4, 5), (5, 12, 13), (6, 8, 10), (8, 15, 17), (9, 12, 15)]</a:t>
            </a:r>
          </a:p>
          <a:p>
            <a:pPr>
              <a:spcBef>
                <a:spcPts val="8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Each triple satisfies a² + b² = c².</a:t>
            </a:r>
          </a:p>
          <a:p>
            <a:pPr>
              <a:spcBef>
                <a:spcPts val="8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list comprehension checks combinations of a, b and c within the selected range.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