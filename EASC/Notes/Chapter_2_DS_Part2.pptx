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48639" y="228600"/>
            <a:ext cx="1744196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Dictionaries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685800" y="1005839"/>
            <a:ext cx="10789920" cy="398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dictionary is a sequence of key-value pairs.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An element of a dictionary consists of two components: a key value and a data value.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key value and its data value are separated by a colon (:).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Individual key-value pairs are separated by commas and enclosed in { }.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General form: { key value : data value }.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Example: d = {"unique": "color", "value": "red"}.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d["unique"] = color.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type(d) —— &lt;class 'dict'&gt;.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548639" y="228600"/>
            <a:ext cx="4301870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Important Dictionary Methods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685800" y="1005839"/>
            <a:ext cx="10789920" cy="2617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d.keys() → Returns the key values of the dictionary 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d.values() → Returns the data values of the dictionary 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d.items() → Returns a list of tuples; each tuple contains a key-value pair from dictionary 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del d[k] → Deletes the key-value pair with key value k from dictionary 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k in d → Checks if k is a key value of dictionary 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548639" y="228600"/>
            <a:ext cx="4478293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Converting Lists to a Dictionary</a:t>
            </a:r>
          </a:p>
        </p:txBody>
      </p:sp>
      <p:sp>
        <p:nvSpPr>
          <p:cNvPr id="101" name="TextBox 2"/>
          <p:cNvSpPr txBox="1"/>
          <p:nvPr/>
        </p:nvSpPr>
        <p:spPr>
          <a:xfrm>
            <a:off x="685800" y="914400"/>
            <a:ext cx="9821222" cy="561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l1 = ["Al", "Mg"]</a:t>
            </a:r>
            <a:br/>
            <a:r>
              <a:t>l2 = [2.71, 1.738]</a:t>
            </a:r>
            <a:br/>
            <a:br/>
            <a:r>
              <a:t>l12 = zip(d1, d2)</a:t>
            </a:r>
            <a:br/>
            <a:r>
              <a:t>m1 = dict(l12)</a:t>
            </a:r>
            <a:br/>
            <a:br/>
            <a:r>
              <a:t>new = {"Ti": 4.5}</a:t>
            </a:r>
            <a:br/>
            <a:r>
              <a:t>m1.update(new)</a:t>
            </a:r>
            <a:br/>
            <a:br/>
            <a:r>
              <a:t>m2 = {"Fe": 7.85, "V": 6.12, "Mn": 7.43, "Cu": 7.2}</a:t>
            </a:r>
            <a:br/>
            <a:br/>
            <a:r>
              <a:t>print("Key values of light metals:", m1.keys())</a:t>
            </a:r>
            <a:br/>
            <a:r>
              <a:t>print("Densities of light metals:", m1.values())</a:t>
            </a:r>
            <a:br/>
            <a:r>
              <a:t>print("Key values of heavy metals:", m2.keys())</a:t>
            </a:r>
            <a:br/>
            <a:r>
              <a:t>print("Densities of heavy metals:", m2.values())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548639" y="228600"/>
            <a:ext cx="6136641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Dictionary: Updating and Deleting Elements</a:t>
            </a:r>
          </a:p>
        </p:txBody>
      </p:sp>
      <p:sp>
        <p:nvSpPr>
          <p:cNvPr id="104" name="TextBox 2"/>
          <p:cNvSpPr txBox="1"/>
          <p:nvPr/>
        </p:nvSpPr>
        <p:spPr>
          <a:xfrm>
            <a:off x="685800" y="914399"/>
            <a:ext cx="7534850" cy="303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m2.update(m1)</a:t>
            </a:r>
            <a:br/>
            <a:br/>
            <a:r>
              <a:t>print("Metals:", m2)</a:t>
            </a:r>
            <a:br/>
            <a:br/>
            <a:r>
              <a:t>del m2["V"]</a:t>
            </a:r>
            <a:br/>
            <a:br/>
            <a:r>
              <a:t>print("Metals:", m2)</a:t>
            </a:r>
            <a:br/>
            <a:r>
              <a:t>print("Density of chromium:", m2["Cr"])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548639" y="228600"/>
            <a:ext cx="4002353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Dictionary Example: Output</a:t>
            </a:r>
          </a:p>
        </p:txBody>
      </p:sp>
      <p:sp>
        <p:nvSpPr>
          <p:cNvPr id="107" name="TextBox 2"/>
          <p:cNvSpPr txBox="1"/>
          <p:nvPr/>
        </p:nvSpPr>
        <p:spPr>
          <a:xfrm>
            <a:off x="685800" y="1005839"/>
            <a:ext cx="10789920" cy="271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Key values of light metals: dict_keys(['Al', 'Mg', 'Ti'])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Densities of light metals: dict_values([2.71, 1.738, 4.5])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Key values of heavy metals: dict_keys(['Fe', 'V', 'Mn', 'Cu'])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Densities of heavy metals: dict_values([7.85, 6.12, 7.43, 7.2])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After m2.update(m1), the entries of m1 are added to m2.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After del m2['V'], the key 'V' and its associated value are removed.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548639" y="228600"/>
            <a:ext cx="650930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Sets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685800" y="1005839"/>
            <a:ext cx="10789920" cy="3075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set is an unordered collection of elements that can be modified.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set never contains any duplicate elements.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Sets are defined like a dictionary using curly brackets.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Empty curly brackets create an empty dictionary, not an empty set.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set Python class implements the notion of sets known from mathematics.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Consequently, the three set operations union (|), intersection (&amp;) and difference (-) are possible.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 txBox="1"/>
          <p:nvPr/>
        </p:nvSpPr>
        <p:spPr>
          <a:xfrm>
            <a:off x="548639" y="228600"/>
            <a:ext cx="4752075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Sets: Operations and Membership</a:t>
            </a:r>
          </a:p>
        </p:txBody>
      </p:sp>
      <p:sp>
        <p:nvSpPr>
          <p:cNvPr id="113" name="TextBox 2"/>
          <p:cNvSpPr txBox="1"/>
          <p:nvPr/>
        </p:nvSpPr>
        <p:spPr>
          <a:xfrm>
            <a:off x="685800" y="1005839"/>
            <a:ext cx="10789920" cy="398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following methods are also available: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– s1.union(s2)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– s1.intersection(s2)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– s1.difference(s2)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main advantage of a set over a list is that it has a highly optimized method for checking whether a particular object is included in the set.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Example: s = {1, 2, 3}.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s.add(23) adds the element 23 to the set.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type(s) → &lt;class 'set'&gt;.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548639" y="228600"/>
            <a:ext cx="1806208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Set Example</a:t>
            </a:r>
          </a:p>
        </p:txBody>
      </p:sp>
      <p:sp>
        <p:nvSpPr>
          <p:cNvPr id="116" name="TextBox 2"/>
          <p:cNvSpPr txBox="1"/>
          <p:nvPr/>
        </p:nvSpPr>
        <p:spPr>
          <a:xfrm>
            <a:off x="685800" y="1097280"/>
            <a:ext cx="2771575" cy="2669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 = {1, 2, 3}</a:t>
            </a:r>
            <a:br/>
            <a:r>
              <a:t>print(s)</a:t>
            </a:r>
            <a:br/>
            <a:br/>
            <a:r>
              <a:t>s.add(23)</a:t>
            </a:r>
            <a:br/>
            <a:r>
              <a:t>print(s)</a:t>
            </a:r>
            <a:br/>
            <a:br/>
            <a:r>
              <a:t>print(type(s))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685800" y="4892040"/>
            <a:ext cx="10789920" cy="134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A set is created by enclosing comma-separated elements in curly brackets.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add method adds the element 23 to the set.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type(s) reveals that s is an object of the set class.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 txBox="1"/>
          <p:nvPr/>
        </p:nvSpPr>
        <p:spPr>
          <a:xfrm>
            <a:off x="548639" y="228600"/>
            <a:ext cx="2661970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Operations on Sets</a:t>
            </a:r>
          </a:p>
        </p:txBody>
      </p:sp>
      <p:sp>
        <p:nvSpPr>
          <p:cNvPr id="120" name="TextBox 2"/>
          <p:cNvSpPr txBox="1"/>
          <p:nvPr/>
        </p:nvSpPr>
        <p:spPr>
          <a:xfrm>
            <a:off x="685800" y="1005839"/>
            <a:ext cx="10789920" cy="3176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s.add(e) → Inserts the element e as a new element into the set 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s.clear() → Removes all elements from the set 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s.copy() → Copies the set 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s.discard(e) → The element e is removed from set 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s1.difference(s2) → Calculates the difference of the two quantities s1 &amp; s2.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s1.intersection(s2) → Returns the intersection of s1 &amp; s2.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s1.union(s2) → Forms the union of s1 &amp; s2.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 txBox="1"/>
          <p:nvPr/>
        </p:nvSpPr>
        <p:spPr>
          <a:xfrm>
            <a:off x="548639" y="228600"/>
            <a:ext cx="4789747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Intersection, Difference and Union</a:t>
            </a:r>
          </a:p>
        </p:txBody>
      </p:sp>
      <p:sp>
        <p:nvSpPr>
          <p:cNvPr id="123" name="TextBox 2"/>
          <p:cNvSpPr txBox="1"/>
          <p:nvPr/>
        </p:nvSpPr>
        <p:spPr>
          <a:xfrm>
            <a:off x="685800" y="822960"/>
            <a:ext cx="8678036" cy="487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set1 = {"A", "B", "C", "D"}</a:t>
            </a:r>
            <a:br/>
            <a:r>
              <a:t>set2 = {"C", "D", "E", "F"}</a:t>
            </a:r>
            <a:br/>
            <a:br/>
            <a:r>
              <a:t>intersection = set1 &amp; set2</a:t>
            </a:r>
            <a:br/>
            <a:r>
              <a:t>difference = set1 - set2</a:t>
            </a:r>
            <a:br/>
            <a:r>
              <a:t>union = set1 | set2</a:t>
            </a:r>
            <a:br/>
            <a:br/>
            <a:r>
              <a:t>print("Set1:", set1)</a:t>
            </a:r>
            <a:br/>
            <a:r>
              <a:t>print("Set2:", set2)</a:t>
            </a:r>
            <a:br/>
            <a:r>
              <a:t>print("Intersection:", intersection)</a:t>
            </a:r>
            <a:br/>
            <a:r>
              <a:t>print("Difference:", difference)</a:t>
            </a:r>
            <a:br/>
            <a:r>
              <a:t>print("Union:", union)</a:t>
            </a:r>
            <a:br/>
            <a:r>
              <a:t>print("Is B contained in set1?", "B" in set1)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548639" y="228600"/>
            <a:ext cx="3173101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Set Operations: Result</a:t>
            </a:r>
          </a:p>
        </p:txBody>
      </p:sp>
      <p:sp>
        <p:nvSpPr>
          <p:cNvPr id="126" name="TextBox 2"/>
          <p:cNvSpPr txBox="1"/>
          <p:nvPr/>
        </p:nvSpPr>
        <p:spPr>
          <a:xfrm>
            <a:off x="685800" y="1005839"/>
            <a:ext cx="10789920" cy="2262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Intersection: {'C', 'D'}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Difference: {'A', 'B'}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Union: {'A', 'B', 'C', 'D', 'E', 'F'}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Is B contained in set1? True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Set ordering is not guaranteed; the displayed order of set elements may vary.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 txBox="1"/>
          <p:nvPr/>
        </p:nvSpPr>
        <p:spPr>
          <a:xfrm>
            <a:off x="548639" y="228600"/>
            <a:ext cx="4772384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2.6 Functional Programming Style</a:t>
            </a:r>
          </a:p>
        </p:txBody>
      </p:sp>
      <p:sp>
        <p:nvSpPr>
          <p:cNvPr id="129" name="TextBox 2"/>
          <p:cNvSpPr txBox="1"/>
          <p:nvPr/>
        </p:nvSpPr>
        <p:spPr>
          <a:xfrm>
            <a:off x="685800" y="1005839"/>
            <a:ext cx="10789920" cy="3887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first functional programming language, Lisp, was developed in 1958.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functional programming style can be characterized in the following way: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Programs are composed of functions.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Functions are not represented as a sequence of statements but as nested function calls instead.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Functions can also be passed back to other functions as arguments.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Functions can also be defined without explicit naming. This type of function is also referred to as a lambda function.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For elementary mathematical operations, the prefix notation is used.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 txBox="1"/>
          <p:nvPr/>
        </p:nvSpPr>
        <p:spPr>
          <a:xfrm>
            <a:off x="548639" y="228600"/>
            <a:ext cx="5690002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Functional Programming Style in Python</a:t>
            </a:r>
          </a:p>
        </p:txBody>
      </p:sp>
      <p:sp>
        <p:nvSpPr>
          <p:cNvPr id="132" name="TextBox 2"/>
          <p:cNvSpPr txBox="1"/>
          <p:nvPr/>
        </p:nvSpPr>
        <p:spPr>
          <a:xfrm>
            <a:off x="685800" y="1005839"/>
            <a:ext cx="10789920" cy="297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Functional programming style is associated with languages such as Lisp.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Python does not support a pure functional programming style, but it supports several functional programming features.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Lambda functions allow functions to be defined without an explicit name.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Functions can be passed as arguments to other functions.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Functional programming emphasizes composing operations through function calls.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 txBox="1"/>
          <p:nvPr/>
        </p:nvSpPr>
        <p:spPr>
          <a:xfrm>
            <a:off x="548639" y="228600"/>
            <a:ext cx="6351357" cy="43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Functional Programming: Language Example</a:t>
            </a:r>
          </a:p>
        </p:txBody>
      </p:sp>
      <p:sp>
        <p:nvSpPr>
          <p:cNvPr id="135" name="TextBox 2"/>
          <p:cNvSpPr txBox="1"/>
          <p:nvPr/>
        </p:nvSpPr>
        <p:spPr>
          <a:xfrm>
            <a:off x="685800" y="1234439"/>
            <a:ext cx="5820071" cy="230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5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Language: Racket Programming</a:t>
            </a:r>
            <a:br/>
            <a:br/>
            <a:r>
              <a:t>(define (square x)</a:t>
            </a:r>
            <a:br/>
            <a:r>
              <a:t>    (* x x))</a:t>
            </a:r>
            <a:br/>
            <a:br/>
            <a:r>
              <a:t>(square 5)</a:t>
            </a:r>
          </a:p>
        </p:txBody>
      </p:sp>
      <p:sp>
        <p:nvSpPr>
          <p:cNvPr id="136" name="TextBox 3"/>
          <p:cNvSpPr txBox="1"/>
          <p:nvPr/>
        </p:nvSpPr>
        <p:spPr>
          <a:xfrm>
            <a:off x="685800" y="4480559"/>
            <a:ext cx="10789920" cy="1703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Lisp is a functional programming language.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example illustrates the functional style using function definition and function calls.</a:t>
            </a:r>
          </a:p>
          <a:p>
            <a:pPr>
              <a:spcBef>
                <a:spcPts val="800"/>
              </a:spcBef>
              <a:defRPr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In Lisp, mathematical operations use prefix notation.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