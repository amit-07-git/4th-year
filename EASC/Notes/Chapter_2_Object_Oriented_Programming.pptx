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8965" y="92074"/>
            <a:ext cx="1096137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-1" y="0"/>
            <a:ext cx="12191697" cy="128016"/>
          </a:xfrm>
          <a:prstGeom prst="rect">
            <a:avLst/>
          </a:prstGeom>
          <a:solidFill>
            <a:srgbClr val="2D5E9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" name="TextBox 2"/>
          <p:cNvSpPr txBox="1"/>
          <p:nvPr/>
        </p:nvSpPr>
        <p:spPr>
          <a:xfrm>
            <a:off x="10712615" y="6510528"/>
            <a:ext cx="854545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5F6973"/>
                </a:solidFill>
              </a:defRPr>
            </a:lvl1pPr>
          </a:lstStyle>
          <a:p>
            <a:pPr/>
            <a:r>
              <a:t>Section 2.7 | 1</a:t>
            </a:r>
          </a:p>
        </p:txBody>
      </p:sp>
      <p:sp>
        <p:nvSpPr>
          <p:cNvPr id="96" name="TextBox 3"/>
          <p:cNvSpPr txBox="1"/>
          <p:nvPr/>
        </p:nvSpPr>
        <p:spPr>
          <a:xfrm>
            <a:off x="868680" y="1828800"/>
            <a:ext cx="6786002" cy="637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600">
                <a:solidFill>
                  <a:srgbClr val="192D4B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Object-Oriented Program Style</a:t>
            </a:r>
          </a:p>
        </p:txBody>
      </p:sp>
      <p:sp>
        <p:nvSpPr>
          <p:cNvPr id="97" name="TextBox 4"/>
          <p:cNvSpPr txBox="1"/>
          <p:nvPr/>
        </p:nvSpPr>
        <p:spPr>
          <a:xfrm>
            <a:off x="914400" y="3200399"/>
            <a:ext cx="4192400" cy="3825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300">
                <a:solidFill>
                  <a:srgbClr val="2D5E91"/>
                </a:solidFill>
              </a:defRPr>
            </a:lvl1pPr>
          </a:lstStyle>
          <a:p>
            <a:pPr/>
            <a:r>
              <a:t>Objects and Classes  •  Inheritance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 1"/>
          <p:cNvSpPr/>
          <p:nvPr/>
        </p:nvSpPr>
        <p:spPr>
          <a:xfrm>
            <a:off x="-1" y="0"/>
            <a:ext cx="12191697" cy="128016"/>
          </a:xfrm>
          <a:prstGeom prst="rect">
            <a:avLst/>
          </a:prstGeom>
          <a:solidFill>
            <a:srgbClr val="2D5E9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0" name="TextBox 2"/>
          <p:cNvSpPr txBox="1"/>
          <p:nvPr/>
        </p:nvSpPr>
        <p:spPr>
          <a:xfrm>
            <a:off x="640079" y="320040"/>
            <a:ext cx="6488608" cy="535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900">
                <a:solidFill>
                  <a:srgbClr val="192D4B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Why Object-Oriented Programming?</a:t>
            </a:r>
          </a:p>
        </p:txBody>
      </p:sp>
      <p:sp>
        <p:nvSpPr>
          <p:cNvPr id="101" name="TextBox 4"/>
          <p:cNvSpPr txBox="1"/>
          <p:nvPr/>
        </p:nvSpPr>
        <p:spPr>
          <a:xfrm>
            <a:off x="822959" y="1325880"/>
            <a:ext cx="10607042" cy="3190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300"/>
              </a:spcBef>
              <a:defRPr sz="2000">
                <a:solidFill>
                  <a:srgbClr val="23272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As software projects grew in size during the 1960s, their complexity increased.</a:t>
            </a:r>
          </a:p>
          <a:p>
            <a:pPr>
              <a:spcBef>
                <a:spcPts val="1300"/>
              </a:spcBef>
              <a:defRPr sz="2000">
                <a:solidFill>
                  <a:srgbClr val="23272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During testing, unforeseen effects occurred and programs did not always provide the desired results.</a:t>
            </a:r>
          </a:p>
          <a:p>
            <a:pPr>
              <a:spcBef>
                <a:spcPts val="1300"/>
              </a:spcBef>
              <a:defRPr sz="2000">
                <a:solidFill>
                  <a:srgbClr val="23272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Object-oriented programming (OOP) was one response to the problem of reducing software complexity.</a:t>
            </a:r>
          </a:p>
          <a:p>
            <a:pPr>
              <a:spcBef>
                <a:spcPts val="1300"/>
              </a:spcBef>
              <a:defRPr sz="2000">
                <a:solidFill>
                  <a:srgbClr val="23272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Simula is considered the first OOP language; it was developed in the 1960s by Ole-Johan Dahl and Kristen Nygaard.</a:t>
            </a:r>
          </a:p>
          <a:p>
            <a:pPr>
              <a:spcBef>
                <a:spcPts val="1300"/>
              </a:spcBef>
              <a:defRPr sz="2000">
                <a:solidFill>
                  <a:srgbClr val="23272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Alan Kay developed Smalltalk in the 1970s, building on ideas from Simula.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1"/>
          <p:cNvSpPr/>
          <p:nvPr/>
        </p:nvSpPr>
        <p:spPr>
          <a:xfrm>
            <a:off x="-1" y="0"/>
            <a:ext cx="12191697" cy="128016"/>
          </a:xfrm>
          <a:prstGeom prst="rect">
            <a:avLst/>
          </a:prstGeom>
          <a:solidFill>
            <a:srgbClr val="2D5E9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4" name="TextBox 2"/>
          <p:cNvSpPr txBox="1"/>
          <p:nvPr/>
        </p:nvSpPr>
        <p:spPr>
          <a:xfrm>
            <a:off x="640079" y="320040"/>
            <a:ext cx="3030940" cy="535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900">
                <a:solidFill>
                  <a:srgbClr val="192D4B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OOP: Core Ideas</a:t>
            </a:r>
          </a:p>
        </p:txBody>
      </p:sp>
      <p:sp>
        <p:nvSpPr>
          <p:cNvPr id="105" name="TextBox 4"/>
          <p:cNvSpPr txBox="1"/>
          <p:nvPr/>
        </p:nvSpPr>
        <p:spPr>
          <a:xfrm>
            <a:off x="822959" y="1325880"/>
            <a:ext cx="10607042" cy="2745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300"/>
              </a:spcBef>
              <a:defRPr sz="2000">
                <a:solidFill>
                  <a:srgbClr val="23272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Everything is an object.</a:t>
            </a:r>
          </a:p>
          <a:p>
            <a:pPr>
              <a:spcBef>
                <a:spcPts val="1300"/>
              </a:spcBef>
              <a:defRPr sz="2000">
                <a:solidFill>
                  <a:srgbClr val="23272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Objects communicate by sending and receiving messages.</a:t>
            </a:r>
          </a:p>
          <a:p>
            <a:pPr>
              <a:spcBef>
                <a:spcPts val="1300"/>
              </a:spcBef>
              <a:defRPr sz="2000">
                <a:solidFill>
                  <a:srgbClr val="23272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Objects have their own memory.</a:t>
            </a:r>
          </a:p>
          <a:p>
            <a:pPr>
              <a:spcBef>
                <a:spcPts val="1300"/>
              </a:spcBef>
              <a:defRPr sz="2000">
                <a:solidFill>
                  <a:srgbClr val="23272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Every object is an instance of a class.</a:t>
            </a:r>
          </a:p>
          <a:p>
            <a:pPr>
              <a:spcBef>
                <a:spcPts val="1300"/>
              </a:spcBef>
              <a:defRPr sz="2000">
                <a:solidFill>
                  <a:srgbClr val="23272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A class holds the shared behavior for its instances.</a:t>
            </a:r>
          </a:p>
          <a:p>
            <a:pPr>
              <a:spcBef>
                <a:spcPts val="1300"/>
              </a:spcBef>
              <a:defRPr sz="2000">
                <a:solidFill>
                  <a:srgbClr val="23272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Python has adopted criteria 1 to 5 from Alan Kay’s description of OOP.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 1"/>
          <p:cNvSpPr/>
          <p:nvPr/>
        </p:nvSpPr>
        <p:spPr>
          <a:xfrm>
            <a:off x="-1" y="0"/>
            <a:ext cx="12191697" cy="128016"/>
          </a:xfrm>
          <a:prstGeom prst="rect">
            <a:avLst/>
          </a:prstGeom>
          <a:solidFill>
            <a:srgbClr val="2D5E9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8" name="TextBox 2"/>
          <p:cNvSpPr txBox="1"/>
          <p:nvPr/>
        </p:nvSpPr>
        <p:spPr>
          <a:xfrm>
            <a:off x="640079" y="320040"/>
            <a:ext cx="5329398" cy="535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900">
                <a:solidFill>
                  <a:srgbClr val="192D4B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Object = Attributes + Methods</a:t>
            </a:r>
          </a:p>
        </p:txBody>
      </p:sp>
      <p:sp>
        <p:nvSpPr>
          <p:cNvPr id="109" name="TextBox 4"/>
          <p:cNvSpPr txBox="1"/>
          <p:nvPr/>
        </p:nvSpPr>
        <p:spPr>
          <a:xfrm>
            <a:off x="822959" y="1325880"/>
            <a:ext cx="10607042" cy="1805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300"/>
              </a:spcBef>
              <a:defRPr sz="2000">
                <a:solidFill>
                  <a:srgbClr val="23272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Data and operations are combined into one unit: the object.</a:t>
            </a:r>
          </a:p>
          <a:p>
            <a:pPr>
              <a:spcBef>
                <a:spcPts val="1300"/>
              </a:spcBef>
              <a:defRPr sz="2000">
                <a:solidFill>
                  <a:srgbClr val="23272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In current OOP terminology, data are called attributes and operations are called methods.</a:t>
            </a:r>
          </a:p>
          <a:p>
            <a:pPr>
              <a:spcBef>
                <a:spcPts val="1300"/>
              </a:spcBef>
              <a:defRPr sz="2000">
                <a:solidFill>
                  <a:srgbClr val="23272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A method is another name for a function defined within a class.</a:t>
            </a:r>
          </a:p>
          <a:p>
            <a:pPr>
              <a:spcBef>
                <a:spcPts val="1300"/>
              </a:spcBef>
              <a:defRPr sz="2000">
                <a:solidFill>
                  <a:srgbClr val="23272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This combination of data and operations is referred to as data encapsulation.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Rectangle 1"/>
          <p:cNvSpPr/>
          <p:nvPr/>
        </p:nvSpPr>
        <p:spPr>
          <a:xfrm>
            <a:off x="-1" y="0"/>
            <a:ext cx="12191697" cy="128016"/>
          </a:xfrm>
          <a:prstGeom prst="rect">
            <a:avLst/>
          </a:prstGeom>
          <a:solidFill>
            <a:srgbClr val="2D5E9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2" name="TextBox 2"/>
          <p:cNvSpPr txBox="1"/>
          <p:nvPr/>
        </p:nvSpPr>
        <p:spPr>
          <a:xfrm>
            <a:off x="640079" y="320040"/>
            <a:ext cx="3603711" cy="535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900">
                <a:solidFill>
                  <a:srgbClr val="192D4B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Three Goals of OOP</a:t>
            </a:r>
          </a:p>
        </p:txBody>
      </p:sp>
      <p:sp>
        <p:nvSpPr>
          <p:cNvPr id="113" name="TextBox 4"/>
          <p:cNvSpPr txBox="1"/>
          <p:nvPr/>
        </p:nvSpPr>
        <p:spPr>
          <a:xfrm>
            <a:off x="822959" y="1325880"/>
            <a:ext cx="10607042" cy="272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300"/>
              </a:spcBef>
              <a:defRPr sz="2000">
                <a:solidFill>
                  <a:srgbClr val="23272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Reusability: once defined, classes can be reused in other software projects.</a:t>
            </a:r>
          </a:p>
          <a:p>
            <a:pPr>
              <a:spcBef>
                <a:spcPts val="1300"/>
              </a:spcBef>
              <a:defRPr sz="2000">
                <a:solidFill>
                  <a:srgbClr val="23272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Data encapsulation: dividing large programs into clearly arranged classes helps reduce complexity and makes projects more manageable.</a:t>
            </a:r>
          </a:p>
          <a:p>
            <a:pPr>
              <a:spcBef>
                <a:spcPts val="1300"/>
              </a:spcBef>
              <a:defRPr sz="2000">
                <a:solidFill>
                  <a:srgbClr val="23272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Separate class namespaces help prevent programmers’ variables from interfering with one another during execution.</a:t>
            </a:r>
          </a:p>
          <a:p>
            <a:pPr>
              <a:spcBef>
                <a:spcPts val="1300"/>
              </a:spcBef>
              <a:defRPr sz="2000">
                <a:solidFill>
                  <a:srgbClr val="23272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Maintainability: a method can be re-implemented with a more effective algorithm while retaining its name, without changing the main program.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1"/>
          <p:cNvSpPr/>
          <p:nvPr/>
        </p:nvSpPr>
        <p:spPr>
          <a:xfrm>
            <a:off x="-1" y="0"/>
            <a:ext cx="12191697" cy="128016"/>
          </a:xfrm>
          <a:prstGeom prst="rect">
            <a:avLst/>
          </a:prstGeom>
          <a:solidFill>
            <a:srgbClr val="2D5E9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6" name="TextBox 2"/>
          <p:cNvSpPr txBox="1"/>
          <p:nvPr/>
        </p:nvSpPr>
        <p:spPr>
          <a:xfrm>
            <a:off x="640079" y="320040"/>
            <a:ext cx="3706936" cy="535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900">
                <a:solidFill>
                  <a:srgbClr val="192D4B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Objects and Classes</a:t>
            </a:r>
          </a:p>
        </p:txBody>
      </p:sp>
      <p:sp>
        <p:nvSpPr>
          <p:cNvPr id="117" name="TextBox 4"/>
          <p:cNvSpPr txBox="1"/>
          <p:nvPr/>
        </p:nvSpPr>
        <p:spPr>
          <a:xfrm>
            <a:off x="822959" y="1325880"/>
            <a:ext cx="10607042" cy="2415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300"/>
              </a:spcBef>
              <a:defRPr sz="2000">
                <a:solidFill>
                  <a:srgbClr val="23272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A class is a custom abstract data type (ADT).</a:t>
            </a:r>
          </a:p>
          <a:p>
            <a:pPr>
              <a:spcBef>
                <a:spcPts val="1300"/>
              </a:spcBef>
              <a:defRPr sz="2000">
                <a:solidFill>
                  <a:srgbClr val="23272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A class contains the relevant properties (attributes) and arithmetic operations (methods) that can be applied to its objects.</a:t>
            </a:r>
          </a:p>
          <a:p>
            <a:pPr>
              <a:spcBef>
                <a:spcPts val="1300"/>
              </a:spcBef>
              <a:defRPr sz="2000">
                <a:solidFill>
                  <a:srgbClr val="23272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A class definition describes how objects are constructed and which operations can be performed on them.</a:t>
            </a:r>
          </a:p>
          <a:p>
            <a:pPr>
              <a:spcBef>
                <a:spcPts val="1300"/>
              </a:spcBef>
              <a:defRPr sz="2000">
                <a:solidFill>
                  <a:srgbClr val="23272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Classes are the smallest units of an object-oriented program.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Rectangle 1"/>
          <p:cNvSpPr/>
          <p:nvPr/>
        </p:nvSpPr>
        <p:spPr>
          <a:xfrm>
            <a:off x="-1" y="0"/>
            <a:ext cx="12191697" cy="128016"/>
          </a:xfrm>
          <a:prstGeom prst="rect">
            <a:avLst/>
          </a:prstGeom>
          <a:solidFill>
            <a:srgbClr val="2D5E9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" name="TextBox 2"/>
          <p:cNvSpPr txBox="1"/>
          <p:nvPr/>
        </p:nvSpPr>
        <p:spPr>
          <a:xfrm>
            <a:off x="640079" y="320040"/>
            <a:ext cx="5364106" cy="535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900">
                <a:solidFill>
                  <a:srgbClr val="192D4B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Class and Data Encapsulation</a:t>
            </a:r>
          </a:p>
        </p:txBody>
      </p:sp>
      <p:sp>
        <p:nvSpPr>
          <p:cNvPr id="121" name="TextBox 4"/>
          <p:cNvSpPr txBox="1"/>
          <p:nvPr/>
        </p:nvSpPr>
        <p:spPr>
          <a:xfrm>
            <a:off x="822959" y="1325880"/>
            <a:ext cx="10607042" cy="3190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300"/>
              </a:spcBef>
              <a:defRPr sz="2000">
                <a:solidFill>
                  <a:srgbClr val="23272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UML represents a class as a rectangle divided into three horizontal areas.</a:t>
            </a:r>
          </a:p>
          <a:p>
            <a:pPr>
              <a:spcBef>
                <a:spcPts val="1300"/>
              </a:spcBef>
              <a:defRPr sz="2000">
                <a:solidFill>
                  <a:srgbClr val="23272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The upper area contains the class name; the middle area lists properties; the lower area lists methods.</a:t>
            </a:r>
          </a:p>
          <a:p>
            <a:pPr>
              <a:spcBef>
                <a:spcPts val="1300"/>
              </a:spcBef>
              <a:defRPr sz="2000">
                <a:solidFill>
                  <a:srgbClr val="23272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A negative sign indicates a private property that should not be changed from outside the class.</a:t>
            </a:r>
          </a:p>
          <a:p>
            <a:pPr>
              <a:spcBef>
                <a:spcPts val="1300"/>
              </a:spcBef>
              <a:defRPr sz="2000">
                <a:solidFill>
                  <a:srgbClr val="23272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A positive sign indicates a public method accessible from outside the class.</a:t>
            </a:r>
          </a:p>
          <a:p>
            <a:pPr>
              <a:spcBef>
                <a:spcPts val="1300"/>
              </a:spcBef>
              <a:defRPr sz="2000">
                <a:solidFill>
                  <a:srgbClr val="23272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Data encapsulation is the prevention of uncontrolled access to the properties (data) of a class.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1"/>
          <p:cNvSpPr/>
          <p:nvPr/>
        </p:nvSpPr>
        <p:spPr>
          <a:xfrm>
            <a:off x="-1" y="0"/>
            <a:ext cx="12191697" cy="128016"/>
          </a:xfrm>
          <a:prstGeom prst="rect">
            <a:avLst/>
          </a:prstGeom>
          <a:solidFill>
            <a:srgbClr val="2D5E9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4" name="TextBox 2"/>
          <p:cNvSpPr txBox="1"/>
          <p:nvPr/>
        </p:nvSpPr>
        <p:spPr>
          <a:xfrm>
            <a:off x="640079" y="320040"/>
            <a:ext cx="5731686" cy="535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900">
                <a:solidFill>
                  <a:srgbClr val="192D4B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Methods and Program Structure</a:t>
            </a:r>
          </a:p>
        </p:txBody>
      </p:sp>
      <p:sp>
        <p:nvSpPr>
          <p:cNvPr id="125" name="TextBox 4"/>
          <p:cNvSpPr txBox="1"/>
          <p:nvPr/>
        </p:nvSpPr>
        <p:spPr>
          <a:xfrm>
            <a:off x="822959" y="1325880"/>
            <a:ext cx="10607042" cy="2580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300"/>
              </a:spcBef>
              <a:defRPr sz="2000">
                <a:solidFill>
                  <a:srgbClr val="23272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Python functions defined within a class are called methods.</a:t>
            </a:r>
          </a:p>
          <a:p>
            <a:pPr>
              <a:spcBef>
                <a:spcPts val="1300"/>
              </a:spcBef>
              <a:defRPr sz="2000">
                <a:solidFill>
                  <a:srgbClr val="23272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An object-oriented program consists of a definition part containing class definitions and an execution part.</a:t>
            </a:r>
          </a:p>
          <a:p>
            <a:pPr>
              <a:spcBef>
                <a:spcPts val="1300"/>
              </a:spcBef>
              <a:defRPr sz="2000">
                <a:solidFill>
                  <a:srgbClr val="23272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Objects are created by assignment using the class name and a parameter list.</a:t>
            </a:r>
          </a:p>
          <a:p>
            <a:pPr>
              <a:spcBef>
                <a:spcPts val="1300"/>
              </a:spcBef>
              <a:defRPr sz="2000">
                <a:solidFill>
                  <a:srgbClr val="23272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Methods of a class are accessed using the dot operator: objName.method().</a:t>
            </a:r>
          </a:p>
          <a:p>
            <a:pPr>
              <a:spcBef>
                <a:spcPts val="1300"/>
              </a:spcBef>
              <a:defRPr sz="2000">
                <a:solidFill>
                  <a:srgbClr val="23272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An object is an instance of a class; any number of objects can be created from one class.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Rectangle 1"/>
          <p:cNvSpPr/>
          <p:nvPr/>
        </p:nvSpPr>
        <p:spPr>
          <a:xfrm>
            <a:off x="-1" y="0"/>
            <a:ext cx="12191697" cy="128016"/>
          </a:xfrm>
          <a:prstGeom prst="rect">
            <a:avLst/>
          </a:prstGeom>
          <a:solidFill>
            <a:srgbClr val="2D5E9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8" name="TextBox 2"/>
          <p:cNvSpPr txBox="1"/>
          <p:nvPr/>
        </p:nvSpPr>
        <p:spPr>
          <a:xfrm>
            <a:off x="640079" y="320040"/>
            <a:ext cx="5322384" cy="535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900">
                <a:solidFill>
                  <a:srgbClr val="192D4B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Object Initialization: __init__()</a:t>
            </a:r>
          </a:p>
        </p:txBody>
      </p:sp>
      <p:sp>
        <p:nvSpPr>
          <p:cNvPr id="129" name="Rounded Rectangle 4"/>
          <p:cNvSpPr/>
          <p:nvPr/>
        </p:nvSpPr>
        <p:spPr>
          <a:xfrm>
            <a:off x="594359" y="1234439"/>
            <a:ext cx="10881361" cy="5074922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>
            <a:solidFill>
              <a:srgbClr val="DCE4E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0" name="TextBox 5"/>
          <p:cNvSpPr txBox="1"/>
          <p:nvPr/>
        </p:nvSpPr>
        <p:spPr>
          <a:xfrm>
            <a:off x="850391" y="1389888"/>
            <a:ext cx="5896284" cy="184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900">
                <a:solidFill>
                  <a:srgbClr val="23272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def __init__(self, parameterlist):</a:t>
            </a:r>
          </a:p>
          <a:p>
            <a:pPr>
              <a:defRPr sz="1900">
                <a:solidFill>
                  <a:srgbClr val="23272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# initialize the object's properties</a:t>
            </a:r>
          </a:p>
          <a:p>
            <a:pPr>
              <a:defRPr sz="1900">
                <a:solidFill>
                  <a:srgbClr val="23272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self.attribute = parameter</a:t>
            </a:r>
          </a:p>
          <a:p>
            <a:pPr>
              <a:defRPr sz="1900">
                <a:solidFill>
                  <a:srgbClr val="23272C"/>
                </a:solidFill>
                <a:latin typeface="Consolas"/>
                <a:ea typeface="Consolas"/>
                <a:cs typeface="Consolas"/>
                <a:sym typeface="Consolas"/>
              </a:defRPr>
            </a:pPr>
          </a:p>
          <a:p>
            <a:pPr>
              <a:defRPr sz="1900">
                <a:solidFill>
                  <a:srgbClr val="23272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# General object creation</a:t>
            </a:r>
          </a:p>
          <a:p>
            <a:pPr>
              <a:defRPr sz="1900">
                <a:solidFill>
                  <a:srgbClr val="23272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objName = ClassName(parameterlist)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1"/>
          <p:cNvSpPr/>
          <p:nvPr/>
        </p:nvSpPr>
        <p:spPr>
          <a:xfrm>
            <a:off x="-1" y="0"/>
            <a:ext cx="12191697" cy="128016"/>
          </a:xfrm>
          <a:prstGeom prst="rect">
            <a:avLst/>
          </a:prstGeom>
          <a:solidFill>
            <a:srgbClr val="2D5E9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3" name="TextBox 2"/>
          <p:cNvSpPr txBox="1"/>
          <p:nvPr/>
        </p:nvSpPr>
        <p:spPr>
          <a:xfrm>
            <a:off x="640079" y="320040"/>
            <a:ext cx="2211616" cy="535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900">
                <a:solidFill>
                  <a:srgbClr val="192D4B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Constructor</a:t>
            </a:r>
          </a:p>
        </p:txBody>
      </p:sp>
      <p:sp>
        <p:nvSpPr>
          <p:cNvPr id="134" name="TextBox 4"/>
          <p:cNvSpPr txBox="1"/>
          <p:nvPr/>
        </p:nvSpPr>
        <p:spPr>
          <a:xfrm>
            <a:off x="822959" y="1325880"/>
            <a:ext cx="10607042" cy="2580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300"/>
              </a:spcBef>
              <a:defRPr sz="2000">
                <a:solidFill>
                  <a:srgbClr val="23272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A constructor is a special method called when an object is created.</a:t>
            </a:r>
          </a:p>
          <a:p>
            <a:pPr>
              <a:spcBef>
                <a:spcPts val="1300"/>
              </a:spcBef>
              <a:defRPr sz="2000">
                <a:solidFill>
                  <a:srgbClr val="23272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It takes care of initializing the properties.</a:t>
            </a:r>
          </a:p>
          <a:p>
            <a:pPr>
              <a:spcBef>
                <a:spcPts val="1300"/>
              </a:spcBef>
              <a:defRPr sz="2000">
                <a:solidFill>
                  <a:srgbClr val="23272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The double underscores mark Python-internal special functions.</a:t>
            </a:r>
          </a:p>
          <a:p>
            <a:pPr>
              <a:spcBef>
                <a:spcPts val="1300"/>
              </a:spcBef>
              <a:defRPr sz="2000">
                <a:solidFill>
                  <a:srgbClr val="23272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In Python, the implicit constructor is started first and the __init__ method is called immediately afterwards.</a:t>
            </a:r>
          </a:p>
          <a:p>
            <a:pPr>
              <a:spcBef>
                <a:spcPts val="1300"/>
              </a:spcBef>
              <a:defRPr sz="2000">
                <a:solidFill>
                  <a:srgbClr val="23272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The constructor provides a clearly defined interface to the outside through its parameters.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Rectangle 1"/>
          <p:cNvSpPr/>
          <p:nvPr/>
        </p:nvSpPr>
        <p:spPr>
          <a:xfrm>
            <a:off x="-1" y="0"/>
            <a:ext cx="12191697" cy="128016"/>
          </a:xfrm>
          <a:prstGeom prst="rect">
            <a:avLst/>
          </a:prstGeom>
          <a:solidFill>
            <a:srgbClr val="2D5E9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" name="TextBox 2"/>
          <p:cNvSpPr txBox="1"/>
          <p:nvPr/>
        </p:nvSpPr>
        <p:spPr>
          <a:xfrm>
            <a:off x="640079" y="320040"/>
            <a:ext cx="6986928" cy="535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900">
                <a:solidFill>
                  <a:srgbClr val="192D4B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Cylinder Class: Attributes and Methods</a:t>
            </a:r>
          </a:p>
        </p:txBody>
      </p:sp>
      <p:sp>
        <p:nvSpPr>
          <p:cNvPr id="138" name="Rounded Rectangle 4"/>
          <p:cNvSpPr/>
          <p:nvPr/>
        </p:nvSpPr>
        <p:spPr>
          <a:xfrm>
            <a:off x="594359" y="1234439"/>
            <a:ext cx="10881361" cy="5074922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>
            <a:solidFill>
              <a:srgbClr val="DCE4E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9" name="TextBox 5"/>
          <p:cNvSpPr txBox="1"/>
          <p:nvPr/>
        </p:nvSpPr>
        <p:spPr>
          <a:xfrm>
            <a:off x="850391" y="1389888"/>
            <a:ext cx="5705753" cy="443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500">
                <a:solidFill>
                  <a:srgbClr val="23272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class Cylinder:</a:t>
            </a:r>
          </a:p>
          <a:p>
            <a:pPr>
              <a:defRPr sz="1500">
                <a:solidFill>
                  <a:srgbClr val="23272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rho = 7.85</a:t>
            </a:r>
          </a:p>
          <a:p>
            <a:pPr>
              <a:defRPr sz="1500">
                <a:solidFill>
                  <a:srgbClr val="23272C"/>
                </a:solidFill>
                <a:latin typeface="Consolas"/>
                <a:ea typeface="Consolas"/>
                <a:cs typeface="Consolas"/>
                <a:sym typeface="Consolas"/>
              </a:defRPr>
            </a:pPr>
          </a:p>
          <a:p>
            <a:pPr>
              <a:defRPr sz="1500">
                <a:solidFill>
                  <a:srgbClr val="23272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def __init__(self, diameter, length, alpha):</a:t>
            </a:r>
          </a:p>
          <a:p>
            <a:pPr>
              <a:defRPr sz="1500">
                <a:solidFill>
                  <a:srgbClr val="23272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   self.__d = diameter</a:t>
            </a:r>
          </a:p>
          <a:p>
            <a:pPr>
              <a:defRPr sz="1500">
                <a:solidFill>
                  <a:srgbClr val="23272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   self.__l = length</a:t>
            </a:r>
          </a:p>
          <a:p>
            <a:pPr>
              <a:defRPr sz="1500">
                <a:solidFill>
                  <a:srgbClr val="23272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   self.__a = alpha</a:t>
            </a:r>
          </a:p>
          <a:p>
            <a:pPr>
              <a:defRPr sz="1500">
                <a:solidFill>
                  <a:srgbClr val="23272C"/>
                </a:solidFill>
                <a:latin typeface="Consolas"/>
                <a:ea typeface="Consolas"/>
                <a:cs typeface="Consolas"/>
                <a:sym typeface="Consolas"/>
              </a:defRPr>
            </a:pPr>
          </a:p>
          <a:p>
            <a:pPr>
              <a:defRPr sz="1500">
                <a:solidFill>
                  <a:srgbClr val="23272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def volume(self):</a:t>
            </a:r>
          </a:p>
          <a:p>
            <a:pPr>
              <a:defRPr sz="1500">
                <a:solidFill>
                  <a:srgbClr val="23272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   return 0.785*self.__d**2*self.__l</a:t>
            </a:r>
          </a:p>
          <a:p>
            <a:pPr>
              <a:defRPr sz="1500">
                <a:solidFill>
                  <a:srgbClr val="23272C"/>
                </a:solidFill>
                <a:latin typeface="Consolas"/>
                <a:ea typeface="Consolas"/>
                <a:cs typeface="Consolas"/>
                <a:sym typeface="Consolas"/>
              </a:defRPr>
            </a:pPr>
          </a:p>
          <a:p>
            <a:pPr>
              <a:defRPr sz="1500">
                <a:solidFill>
                  <a:srgbClr val="23272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def mass(self):</a:t>
            </a:r>
          </a:p>
          <a:p>
            <a:pPr>
              <a:defRPr sz="1500">
                <a:solidFill>
                  <a:srgbClr val="23272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   return self.rho*self.volume()</a:t>
            </a:r>
          </a:p>
          <a:p>
            <a:pPr>
              <a:defRPr sz="1500">
                <a:solidFill>
                  <a:srgbClr val="23272C"/>
                </a:solidFill>
                <a:latin typeface="Consolas"/>
                <a:ea typeface="Consolas"/>
                <a:cs typeface="Consolas"/>
                <a:sym typeface="Consolas"/>
              </a:defRPr>
            </a:pPr>
          </a:p>
          <a:p>
            <a:pPr>
              <a:defRPr sz="1500">
                <a:solidFill>
                  <a:srgbClr val="23272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def moment_of_inertia(self):</a:t>
            </a:r>
          </a:p>
          <a:p>
            <a:pPr>
              <a:defRPr sz="1500">
                <a:solidFill>
                  <a:srgbClr val="23272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   return 0.5*self.mass()*(self.__d/2/10)**2</a:t>
            </a:r>
          </a:p>
          <a:p>
            <a:pPr>
              <a:defRPr sz="1500">
                <a:solidFill>
                  <a:srgbClr val="23272C"/>
                </a:solidFill>
                <a:latin typeface="Consolas"/>
                <a:ea typeface="Consolas"/>
                <a:cs typeface="Consolas"/>
                <a:sym typeface="Consolas"/>
              </a:defRPr>
            </a:pPr>
          </a:p>
          <a:p>
            <a:pPr>
              <a:defRPr sz="1500">
                <a:solidFill>
                  <a:srgbClr val="23272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def accelerationtorque(self):</a:t>
            </a:r>
          </a:p>
          <a:p>
            <a:pPr>
              <a:defRPr sz="1500">
                <a:solidFill>
                  <a:srgbClr val="23272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   return self.__a*self.moment_of_inertia()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Rectangle 1"/>
          <p:cNvSpPr/>
          <p:nvPr/>
        </p:nvSpPr>
        <p:spPr>
          <a:xfrm>
            <a:off x="-1" y="0"/>
            <a:ext cx="12191697" cy="128016"/>
          </a:xfrm>
          <a:prstGeom prst="rect">
            <a:avLst/>
          </a:prstGeom>
          <a:solidFill>
            <a:srgbClr val="2D5E9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2" name="TextBox 2"/>
          <p:cNvSpPr txBox="1"/>
          <p:nvPr/>
        </p:nvSpPr>
        <p:spPr>
          <a:xfrm>
            <a:off x="640079" y="320040"/>
            <a:ext cx="7234379" cy="535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900">
                <a:solidFill>
                  <a:srgbClr val="192D4B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Instance Variables and Private Attributes</a:t>
            </a:r>
          </a:p>
        </p:txBody>
      </p:sp>
      <p:sp>
        <p:nvSpPr>
          <p:cNvPr id="143" name="TextBox 4"/>
          <p:cNvSpPr txBox="1"/>
          <p:nvPr/>
        </p:nvSpPr>
        <p:spPr>
          <a:xfrm>
            <a:off x="822959" y="1325880"/>
            <a:ext cx="10607042" cy="288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300"/>
              </a:spcBef>
              <a:defRPr sz="2000">
                <a:solidFill>
                  <a:srgbClr val="23272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A class variable such as rho has a namespace spanning the class and can be used in its methods.</a:t>
            </a:r>
          </a:p>
          <a:p>
            <a:pPr>
              <a:spcBef>
                <a:spcPts val="1300"/>
              </a:spcBef>
              <a:defRPr sz="2000">
                <a:solidFill>
                  <a:srgbClr val="23272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Variables prefixed with self are instance variables; each newly created object gets its own namespace.</a:t>
            </a:r>
          </a:p>
          <a:p>
            <a:pPr>
              <a:spcBef>
                <a:spcPts val="1300"/>
              </a:spcBef>
              <a:defRPr sz="2000">
                <a:solidFill>
                  <a:srgbClr val="23272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Two underscores before an instance variable mark it as private.</a:t>
            </a:r>
          </a:p>
          <a:p>
            <a:pPr>
              <a:spcBef>
                <a:spcPts val="1300"/>
              </a:spcBef>
              <a:defRPr sz="2000">
                <a:solidFill>
                  <a:srgbClr val="23272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Private instance variables are not intended to be modified from outside the class.</a:t>
            </a:r>
          </a:p>
          <a:p>
            <a:pPr>
              <a:spcBef>
                <a:spcPts val="1300"/>
              </a:spcBef>
              <a:defRPr sz="2000">
                <a:solidFill>
                  <a:srgbClr val="23272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The object accesses class methods through the dot operator.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Rectangle 1"/>
          <p:cNvSpPr/>
          <p:nvPr/>
        </p:nvSpPr>
        <p:spPr>
          <a:xfrm>
            <a:off x="-1" y="0"/>
            <a:ext cx="12191697" cy="128016"/>
          </a:xfrm>
          <a:prstGeom prst="rect">
            <a:avLst/>
          </a:prstGeom>
          <a:solidFill>
            <a:srgbClr val="2D5E9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6" name="TextBox 2"/>
          <p:cNvSpPr txBox="1"/>
          <p:nvPr/>
        </p:nvSpPr>
        <p:spPr>
          <a:xfrm>
            <a:off x="640079" y="320040"/>
            <a:ext cx="6611974" cy="535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900">
                <a:solidFill>
                  <a:srgbClr val="192D4B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Creating and Using a Cylinder Object</a:t>
            </a:r>
          </a:p>
        </p:txBody>
      </p:sp>
      <p:sp>
        <p:nvSpPr>
          <p:cNvPr id="147" name="Rounded Rectangle 4"/>
          <p:cNvSpPr/>
          <p:nvPr/>
        </p:nvSpPr>
        <p:spPr>
          <a:xfrm>
            <a:off x="594359" y="1234439"/>
            <a:ext cx="7086601" cy="5074922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>
            <a:solidFill>
              <a:srgbClr val="DCE4E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8" name="TextBox 5"/>
          <p:cNvSpPr txBox="1"/>
          <p:nvPr/>
        </p:nvSpPr>
        <p:spPr>
          <a:xfrm>
            <a:off x="850392" y="1389888"/>
            <a:ext cx="6848938" cy="169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500">
                <a:solidFill>
                  <a:srgbClr val="23272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# Main program; d and l in dm</a:t>
            </a:r>
          </a:p>
          <a:p>
            <a:pPr>
              <a:defRPr sz="1500">
                <a:solidFill>
                  <a:srgbClr val="23272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z = Cylinder(1, 10, 1.2)</a:t>
            </a:r>
          </a:p>
          <a:p>
            <a:pPr>
              <a:defRPr sz="1500">
                <a:solidFill>
                  <a:srgbClr val="23272C"/>
                </a:solidFill>
                <a:latin typeface="Consolas"/>
                <a:ea typeface="Consolas"/>
                <a:cs typeface="Consolas"/>
                <a:sym typeface="Consolas"/>
              </a:defRPr>
            </a:pPr>
          </a:p>
          <a:p>
            <a:pPr>
              <a:defRPr sz="1500">
                <a:solidFill>
                  <a:srgbClr val="23272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print("Volume:", z.volume(), "dm^3")</a:t>
            </a:r>
          </a:p>
          <a:p>
            <a:pPr>
              <a:defRPr sz="1500">
                <a:solidFill>
                  <a:srgbClr val="23272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print("Mass:", z.mass(), "kg")</a:t>
            </a:r>
          </a:p>
          <a:p>
            <a:pPr>
              <a:defRPr sz="1500">
                <a:solidFill>
                  <a:srgbClr val="23272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print("Moment of inertia:", z.moment_of_inertia(), "kgm^2")</a:t>
            </a:r>
          </a:p>
          <a:p>
            <a:pPr>
              <a:defRPr sz="1500">
                <a:solidFill>
                  <a:srgbClr val="23272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print("Acceleration torque:", z.accelerationtorque(), "Nm")</a:t>
            </a:r>
          </a:p>
        </p:txBody>
      </p:sp>
      <p:sp>
        <p:nvSpPr>
          <p:cNvPr id="149" name="TextBox 6"/>
          <p:cNvSpPr txBox="1"/>
          <p:nvPr/>
        </p:nvSpPr>
        <p:spPr>
          <a:xfrm>
            <a:off x="802738" y="4343400"/>
            <a:ext cx="4463490" cy="1209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2000">
                <a:solidFill>
                  <a:srgbClr val="2D5E91"/>
                </a:solidFill>
              </a:defRPr>
            </a:pPr>
            <a:r>
              <a:t>Output</a:t>
            </a:r>
          </a:p>
          <a:p>
            <a:pPr>
              <a:defRPr sz="1300">
                <a:solidFill>
                  <a:srgbClr val="23272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Volume: 7.8500000000000005 dm^3</a:t>
            </a:r>
          </a:p>
          <a:p>
            <a:pPr>
              <a:defRPr sz="1300">
                <a:solidFill>
                  <a:srgbClr val="23272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Mass: 61.6225 kg</a:t>
            </a:r>
          </a:p>
          <a:p>
            <a:pPr>
              <a:defRPr sz="1300">
                <a:solidFill>
                  <a:srgbClr val="23272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Moment of inertia: 0.07702812500000002 kgm^2</a:t>
            </a:r>
          </a:p>
          <a:p>
            <a:pPr>
              <a:defRPr sz="1300">
                <a:solidFill>
                  <a:srgbClr val="23272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Acceleration torque: 0.09243375000000002 Nm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Rectangle 1"/>
          <p:cNvSpPr/>
          <p:nvPr/>
        </p:nvSpPr>
        <p:spPr>
          <a:xfrm>
            <a:off x="-1" y="0"/>
            <a:ext cx="12191697" cy="128016"/>
          </a:xfrm>
          <a:prstGeom prst="rect">
            <a:avLst/>
          </a:prstGeom>
          <a:solidFill>
            <a:srgbClr val="2D5E9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" name="TextBox 2"/>
          <p:cNvSpPr txBox="1"/>
          <p:nvPr/>
        </p:nvSpPr>
        <p:spPr>
          <a:xfrm>
            <a:off x="640079" y="320040"/>
            <a:ext cx="4606285" cy="535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900">
                <a:solidFill>
                  <a:srgbClr val="192D4B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Objects and Method Calls</a:t>
            </a:r>
          </a:p>
        </p:txBody>
      </p:sp>
      <p:sp>
        <p:nvSpPr>
          <p:cNvPr id="153" name="TextBox 4"/>
          <p:cNvSpPr txBox="1"/>
          <p:nvPr/>
        </p:nvSpPr>
        <p:spPr>
          <a:xfrm>
            <a:off x="822959" y="1325880"/>
            <a:ext cx="10607042" cy="2110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300"/>
              </a:spcBef>
              <a:defRPr sz="2000">
                <a:solidFill>
                  <a:srgbClr val="23272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An object is created by calling the class with its current parameters.</a:t>
            </a:r>
          </a:p>
          <a:p>
            <a:pPr>
              <a:spcBef>
                <a:spcPts val="1300"/>
              </a:spcBef>
              <a:defRPr sz="2000">
                <a:solidFill>
                  <a:srgbClr val="23272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Many objects of the same class can be created with different parameter values.</a:t>
            </a:r>
          </a:p>
          <a:p>
            <a:pPr>
              <a:spcBef>
                <a:spcPts val="1300"/>
              </a:spcBef>
              <a:defRPr sz="2000">
                <a:solidFill>
                  <a:srgbClr val="23272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Each object has its own instance variables and namespace.</a:t>
            </a:r>
          </a:p>
          <a:p>
            <a:pPr>
              <a:spcBef>
                <a:spcPts val="1300"/>
              </a:spcBef>
              <a:defRPr sz="2000">
                <a:solidFill>
                  <a:srgbClr val="23272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An object’s method call can be viewed as the object sending a message to the method and receiving its result.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Rectangle 1"/>
          <p:cNvSpPr/>
          <p:nvPr/>
        </p:nvSpPr>
        <p:spPr>
          <a:xfrm>
            <a:off x="-1" y="0"/>
            <a:ext cx="12191697" cy="128016"/>
          </a:xfrm>
          <a:prstGeom prst="rect">
            <a:avLst/>
          </a:prstGeom>
          <a:solidFill>
            <a:srgbClr val="2D5E9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6" name="TextBox 2"/>
          <p:cNvSpPr txBox="1"/>
          <p:nvPr/>
        </p:nvSpPr>
        <p:spPr>
          <a:xfrm>
            <a:off x="640079" y="320040"/>
            <a:ext cx="2069008" cy="535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900">
                <a:solidFill>
                  <a:srgbClr val="192D4B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Inheritance</a:t>
            </a:r>
          </a:p>
        </p:txBody>
      </p:sp>
      <p:sp>
        <p:nvSpPr>
          <p:cNvPr id="157" name="TextBox 4"/>
          <p:cNvSpPr txBox="1"/>
          <p:nvPr/>
        </p:nvSpPr>
        <p:spPr>
          <a:xfrm>
            <a:off x="822959" y="1325880"/>
            <a:ext cx="10607042" cy="1805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300"/>
              </a:spcBef>
              <a:defRPr sz="2000">
                <a:solidFill>
                  <a:srgbClr val="23272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Inheritance is another important OOP concept; its basic idea is source-code reusability.</a:t>
            </a:r>
          </a:p>
          <a:p>
            <a:pPr>
              <a:spcBef>
                <a:spcPts val="1300"/>
              </a:spcBef>
              <a:defRPr sz="2000">
                <a:solidFill>
                  <a:srgbClr val="23272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A derived class inherits attributes and methods from one or more base classes.</a:t>
            </a:r>
          </a:p>
          <a:p>
            <a:pPr>
              <a:spcBef>
                <a:spcPts val="1300"/>
              </a:spcBef>
              <a:defRPr sz="2000">
                <a:solidFill>
                  <a:srgbClr val="23272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A derived class can take over properties and methods from a base class and extend them.</a:t>
            </a:r>
          </a:p>
          <a:p>
            <a:pPr>
              <a:spcBef>
                <a:spcPts val="1300"/>
              </a:spcBef>
              <a:defRPr sz="2000">
                <a:solidFill>
                  <a:srgbClr val="23272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A base class makes its properties and methods available to derived classes.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Rectangle 1"/>
          <p:cNvSpPr/>
          <p:nvPr/>
        </p:nvSpPr>
        <p:spPr>
          <a:xfrm>
            <a:off x="-1" y="0"/>
            <a:ext cx="12191697" cy="128016"/>
          </a:xfrm>
          <a:prstGeom prst="rect">
            <a:avLst/>
          </a:prstGeom>
          <a:solidFill>
            <a:srgbClr val="2D5E9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0" name="TextBox 2"/>
          <p:cNvSpPr txBox="1"/>
          <p:nvPr/>
        </p:nvSpPr>
        <p:spPr>
          <a:xfrm>
            <a:off x="640079" y="320040"/>
            <a:ext cx="5261960" cy="535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900">
                <a:solidFill>
                  <a:srgbClr val="192D4B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Inheritance: Area and Volume</a:t>
            </a:r>
          </a:p>
        </p:txBody>
      </p:sp>
      <p:sp>
        <p:nvSpPr>
          <p:cNvPr id="161" name="Rounded Rectangle 4"/>
          <p:cNvSpPr/>
          <p:nvPr/>
        </p:nvSpPr>
        <p:spPr>
          <a:xfrm>
            <a:off x="594359" y="1234439"/>
            <a:ext cx="7086601" cy="5074922"/>
          </a:xfrm>
          <a:prstGeom prst="roundRect">
            <a:avLst>
              <a:gd name="adj" fmla="val 16667"/>
            </a:avLst>
          </a:prstGeom>
          <a:solidFill>
            <a:srgbClr val="F2F6FA"/>
          </a:solidFill>
          <a:ln>
            <a:solidFill>
              <a:srgbClr val="DCE4E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2" name="TextBox 5"/>
          <p:cNvSpPr txBox="1"/>
          <p:nvPr/>
        </p:nvSpPr>
        <p:spPr>
          <a:xfrm>
            <a:off x="850392" y="1389888"/>
            <a:ext cx="5012219" cy="4841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400">
                <a:solidFill>
                  <a:srgbClr val="23272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class Area:</a:t>
            </a:r>
          </a:p>
          <a:p>
            <a:pPr>
              <a:defRPr sz="1400">
                <a:solidFill>
                  <a:srgbClr val="23272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def __init__(self, width, length):</a:t>
            </a:r>
          </a:p>
          <a:p>
            <a:pPr>
              <a:defRPr sz="1400">
                <a:solidFill>
                  <a:srgbClr val="23272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   self.w = width</a:t>
            </a:r>
          </a:p>
          <a:p>
            <a:pPr>
              <a:defRPr sz="1400">
                <a:solidFill>
                  <a:srgbClr val="23272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   self.l = length</a:t>
            </a:r>
          </a:p>
          <a:p>
            <a:pPr>
              <a:defRPr sz="1400">
                <a:solidFill>
                  <a:srgbClr val="23272C"/>
                </a:solidFill>
                <a:latin typeface="Consolas"/>
                <a:ea typeface="Consolas"/>
                <a:cs typeface="Consolas"/>
                <a:sym typeface="Consolas"/>
              </a:defRPr>
            </a:pPr>
          </a:p>
          <a:p>
            <a:pPr>
              <a:defRPr sz="1400">
                <a:solidFill>
                  <a:srgbClr val="23272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def area(self):</a:t>
            </a:r>
          </a:p>
          <a:p>
            <a:pPr>
              <a:defRPr sz="1400">
                <a:solidFill>
                  <a:srgbClr val="23272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   return self.w*self.l</a:t>
            </a:r>
          </a:p>
          <a:p>
            <a:pPr>
              <a:defRPr sz="1400">
                <a:solidFill>
                  <a:srgbClr val="23272C"/>
                </a:solidFill>
                <a:latin typeface="Consolas"/>
                <a:ea typeface="Consolas"/>
                <a:cs typeface="Consolas"/>
                <a:sym typeface="Consolas"/>
              </a:defRPr>
            </a:pPr>
          </a:p>
          <a:p>
            <a:pPr>
              <a:defRPr sz="1400">
                <a:solidFill>
                  <a:srgbClr val="23272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class Volume(Area):</a:t>
            </a:r>
          </a:p>
          <a:p>
            <a:pPr>
              <a:defRPr sz="1400">
                <a:solidFill>
                  <a:srgbClr val="23272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def __init__(self, width, length, height):</a:t>
            </a:r>
          </a:p>
          <a:p>
            <a:pPr>
              <a:defRPr sz="1400">
                <a:solidFill>
                  <a:srgbClr val="23272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   Area.__init__(self, width, length)</a:t>
            </a:r>
          </a:p>
          <a:p>
            <a:pPr>
              <a:defRPr sz="1400">
                <a:solidFill>
                  <a:srgbClr val="23272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   # super().__init__(width, length)</a:t>
            </a:r>
          </a:p>
          <a:p>
            <a:pPr>
              <a:defRPr sz="1400">
                <a:solidFill>
                  <a:srgbClr val="23272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   self.h = height</a:t>
            </a:r>
          </a:p>
          <a:p>
            <a:pPr>
              <a:defRPr sz="1400">
                <a:solidFill>
                  <a:srgbClr val="23272C"/>
                </a:solidFill>
                <a:latin typeface="Consolas"/>
                <a:ea typeface="Consolas"/>
                <a:cs typeface="Consolas"/>
                <a:sym typeface="Consolas"/>
              </a:defRPr>
            </a:pPr>
          </a:p>
          <a:p>
            <a:pPr>
              <a:defRPr sz="1400">
                <a:solidFill>
                  <a:srgbClr val="23272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def volume(self):</a:t>
            </a:r>
          </a:p>
          <a:p>
            <a:pPr>
              <a:defRPr sz="1400">
                <a:solidFill>
                  <a:srgbClr val="23272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   return Area.area(self)*self.h</a:t>
            </a:r>
          </a:p>
          <a:p>
            <a:pPr>
              <a:defRPr sz="1400">
                <a:solidFill>
                  <a:srgbClr val="23272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   # return super().area()*self.h</a:t>
            </a:r>
          </a:p>
          <a:p>
            <a:pPr>
              <a:defRPr sz="1400">
                <a:solidFill>
                  <a:srgbClr val="23272C"/>
                </a:solidFill>
                <a:latin typeface="Consolas"/>
                <a:ea typeface="Consolas"/>
                <a:cs typeface="Consolas"/>
                <a:sym typeface="Consolas"/>
              </a:defRPr>
            </a:pPr>
          </a:p>
          <a:p>
            <a:pPr>
              <a:defRPr sz="1400">
                <a:solidFill>
                  <a:srgbClr val="23272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A = Area(1, 2)</a:t>
            </a:r>
          </a:p>
          <a:p>
            <a:pPr>
              <a:defRPr sz="1400">
                <a:solidFill>
                  <a:srgbClr val="23272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V = Volume(1, 2, 3)</a:t>
            </a:r>
          </a:p>
          <a:p>
            <a:pPr>
              <a:defRPr sz="1400">
                <a:solidFill>
                  <a:srgbClr val="23272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print("Area: ", A.area(), " m^2")</a:t>
            </a:r>
          </a:p>
          <a:p>
            <a:pPr>
              <a:defRPr sz="1400">
                <a:solidFill>
                  <a:srgbClr val="23272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print("Volume:", V.volume(), " m^3")</a:t>
            </a:r>
          </a:p>
        </p:txBody>
      </p:sp>
      <p:sp>
        <p:nvSpPr>
          <p:cNvPr id="163" name="TextBox 6"/>
          <p:cNvSpPr txBox="1"/>
          <p:nvPr/>
        </p:nvSpPr>
        <p:spPr>
          <a:xfrm>
            <a:off x="8000998" y="1417319"/>
            <a:ext cx="1392131" cy="802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2000">
                <a:solidFill>
                  <a:srgbClr val="2D5E91"/>
                </a:solidFill>
              </a:defRPr>
            </a:pPr>
            <a:r>
              <a:t>Output</a:t>
            </a:r>
          </a:p>
          <a:p>
            <a:pPr>
              <a:defRPr sz="1300">
                <a:solidFill>
                  <a:srgbClr val="23272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Area: 2 m^2</a:t>
            </a:r>
          </a:p>
          <a:p>
            <a:pPr>
              <a:defRPr sz="1300">
                <a:solidFill>
                  <a:srgbClr val="23272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Volume: 6 m^3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Rectangle 1"/>
          <p:cNvSpPr/>
          <p:nvPr/>
        </p:nvSpPr>
        <p:spPr>
          <a:xfrm>
            <a:off x="-1" y="0"/>
            <a:ext cx="12191697" cy="128016"/>
          </a:xfrm>
          <a:prstGeom prst="rect">
            <a:avLst/>
          </a:prstGeom>
          <a:solidFill>
            <a:srgbClr val="2D5E9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6" name="TextBox 2"/>
          <p:cNvSpPr txBox="1"/>
          <p:nvPr/>
        </p:nvSpPr>
        <p:spPr>
          <a:xfrm>
            <a:off x="640079" y="320040"/>
            <a:ext cx="4197343" cy="535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900">
                <a:solidFill>
                  <a:srgbClr val="192D4B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Inheritance: Key Points</a:t>
            </a:r>
          </a:p>
        </p:txBody>
      </p:sp>
      <p:sp>
        <p:nvSpPr>
          <p:cNvPr id="167" name="TextBox 3"/>
          <p:cNvSpPr txBox="1"/>
          <p:nvPr/>
        </p:nvSpPr>
        <p:spPr>
          <a:xfrm>
            <a:off x="10648247" y="6510528"/>
            <a:ext cx="918913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5F6973"/>
                </a:solidFill>
              </a:defRPr>
            </a:lvl1pPr>
          </a:lstStyle>
          <a:p>
            <a:pPr/>
            <a:r>
              <a:t>Section 2.7 | 17</a:t>
            </a:r>
          </a:p>
        </p:txBody>
      </p:sp>
      <p:sp>
        <p:nvSpPr>
          <p:cNvPr id="168" name="TextBox 4"/>
          <p:cNvSpPr txBox="1"/>
          <p:nvPr/>
        </p:nvSpPr>
        <p:spPr>
          <a:xfrm>
            <a:off x="822959" y="1325880"/>
            <a:ext cx="10607042" cy="3355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300"/>
              </a:spcBef>
              <a:defRPr sz="2000">
                <a:solidFill>
                  <a:srgbClr val="23272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The base class Area defines the area() method for a rectangular area.</a:t>
            </a:r>
          </a:p>
          <a:p>
            <a:pPr>
              <a:spcBef>
                <a:spcPts val="1300"/>
              </a:spcBef>
              <a:defRPr sz="2000">
                <a:solidFill>
                  <a:srgbClr val="23272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The derived class Volume inherits the width and length attributes and the area() method.</a:t>
            </a:r>
          </a:p>
          <a:p>
            <a:pPr>
              <a:spcBef>
                <a:spcPts val="1300"/>
              </a:spcBef>
              <a:defRPr sz="2000">
                <a:solidFill>
                  <a:srgbClr val="23272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Inheritance is specified by placing the base class name in parentheses after the derived class name: class Volume(Area).</a:t>
            </a:r>
          </a:p>
          <a:p>
            <a:pPr>
              <a:spcBef>
                <a:spcPts val="1300"/>
              </a:spcBef>
              <a:defRPr sz="2000">
                <a:solidFill>
                  <a:srgbClr val="23272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The derived class initializer receives width, length, and height.</a:t>
            </a:r>
          </a:p>
          <a:p>
            <a:pPr>
              <a:spcBef>
                <a:spcPts val="1300"/>
              </a:spcBef>
              <a:defRPr sz="2000">
                <a:solidFill>
                  <a:srgbClr val="23272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The base-class initializer can be called through Area.__init__(self, width, length) or super().__init__(width, length).</a:t>
            </a:r>
          </a:p>
          <a:p>
            <a:pPr>
              <a:spcBef>
                <a:spcPts val="1300"/>
              </a:spcBef>
              <a:defRPr sz="2000">
                <a:solidFill>
                  <a:srgbClr val="23272C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The volume is calculated as base area multiplied by height.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