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D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658368" y="914400"/>
            <a:ext cx="100585" cy="4572000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033271" y="960119"/>
            <a:ext cx="4227685" cy="92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000">
                <a:solidFill>
                  <a:srgbClr val="2B9EB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Chapter 2</a:t>
            </a:r>
          </a:p>
          <a:p>
            <a:pPr>
              <a:defRPr b="1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Program Structures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01" name="TextBox 4"/>
          <p:cNvSpPr txBox="1"/>
          <p:nvPr/>
        </p:nvSpPr>
        <p:spPr>
          <a:xfrm>
            <a:off x="548639" y="566927"/>
            <a:ext cx="5958724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How a Python program controls its flow</a:t>
            </a:r>
          </a:p>
        </p:txBody>
      </p:sp>
      <p:sp>
        <p:nvSpPr>
          <p:cNvPr id="102" name="TextBox 6"/>
          <p:cNvSpPr txBox="1"/>
          <p:nvPr/>
        </p:nvSpPr>
        <p:spPr>
          <a:xfrm>
            <a:off x="625580" y="1494701"/>
            <a:ext cx="10703809" cy="2859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program is a sequence of statements telling the Python interpreter what actions to perform.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book introduces the input–process–output (IPO) model: accept input → process it → output the result.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four structures covered here are:</a:t>
            </a:r>
          </a:p>
          <a:p>
            <a:pPr lvl="1"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Linear structure - statements execute in sequence.</a:t>
            </a:r>
          </a:p>
          <a:p>
            <a:pPr lvl="1"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 - divide a larger problem into manageable subproblems.</a:t>
            </a:r>
          </a:p>
          <a:p>
            <a:pPr lvl="1"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Branching - choose between alternatives based on conditions.</a:t>
            </a:r>
          </a:p>
          <a:p>
            <a:pPr lvl="1"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Repetition - execute a statement block multiple times.</a:t>
            </a:r>
          </a:p>
        </p:txBody>
      </p:sp>
      <p:sp>
        <p:nvSpPr>
          <p:cNvPr id="103" name="Chevron 19"/>
          <p:cNvSpPr/>
          <p:nvPr/>
        </p:nvSpPr>
        <p:spPr>
          <a:xfrm>
            <a:off x="13386815" y="40690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Rounded Rectangle 20"/>
          <p:cNvSpPr/>
          <p:nvPr/>
        </p:nvSpPr>
        <p:spPr>
          <a:xfrm>
            <a:off x="13661136" y="3886200"/>
            <a:ext cx="178308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1"/>
          <p:cNvSpPr txBox="1"/>
          <p:nvPr/>
        </p:nvSpPr>
        <p:spPr>
          <a:xfrm>
            <a:off x="14317085" y="4050791"/>
            <a:ext cx="471182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Loop</a:t>
            </a:r>
          </a:p>
        </p:txBody>
      </p:sp>
      <p:sp>
        <p:nvSpPr>
          <p:cNvPr id="106" name="TextBox 23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548639" y="566927"/>
            <a:ext cx="4104083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Linear Program Structures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576071" y="1069847"/>
            <a:ext cx="7383077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simplest control structure: execute statements in the required order.</a:t>
            </a:r>
          </a:p>
        </p:txBody>
      </p:sp>
      <p:sp>
        <p:nvSpPr>
          <p:cNvPr id="113" name="TextBox 6"/>
          <p:cNvSpPr txBox="1"/>
          <p:nvPr/>
        </p:nvSpPr>
        <p:spPr>
          <a:xfrm>
            <a:off x="685799" y="1645919"/>
            <a:ext cx="10311556" cy="1805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a linear flow, calculations follow the logic of the problem solution.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calculation C depends on B, and B depends on A, the order A → B → C is mandatory.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 branching and no repetition occur in a basic linear program.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Ex- acceleration → velocity → distance.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small, clearly defined problems, a linear structure can be sufficient.</a:t>
            </a:r>
          </a:p>
        </p:txBody>
      </p:sp>
      <p:sp>
        <p:nvSpPr>
          <p:cNvPr id="114" name="Chevron 19"/>
          <p:cNvSpPr/>
          <p:nvPr/>
        </p:nvSpPr>
        <p:spPr>
          <a:xfrm>
            <a:off x="13194791" y="352044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ounded Rectangle 20"/>
          <p:cNvSpPr/>
          <p:nvPr/>
        </p:nvSpPr>
        <p:spPr>
          <a:xfrm>
            <a:off x="13441680" y="3337559"/>
            <a:ext cx="18288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1"/>
          <p:cNvSpPr txBox="1"/>
          <p:nvPr/>
        </p:nvSpPr>
        <p:spPr>
          <a:xfrm>
            <a:off x="14047089" y="3502152"/>
            <a:ext cx="617983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17" name="TextBox 24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22" name="TextBox 4"/>
          <p:cNvSpPr txBox="1"/>
          <p:nvPr/>
        </p:nvSpPr>
        <p:spPr>
          <a:xfrm>
            <a:off x="548639" y="566927"/>
            <a:ext cx="7409351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Designing a linear program with a structure chart</a:t>
            </a:r>
          </a:p>
        </p:txBody>
      </p:sp>
      <p:sp>
        <p:nvSpPr>
          <p:cNvPr id="123" name="Rounded Rectangle 6"/>
          <p:cNvSpPr/>
          <p:nvPr/>
        </p:nvSpPr>
        <p:spPr>
          <a:xfrm>
            <a:off x="685800" y="1691639"/>
            <a:ext cx="224028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7"/>
          <p:cNvSpPr txBox="1"/>
          <p:nvPr/>
        </p:nvSpPr>
        <p:spPr>
          <a:xfrm>
            <a:off x="1476271" y="1856232"/>
            <a:ext cx="659338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Input U</a:t>
            </a:r>
          </a:p>
        </p:txBody>
      </p:sp>
      <p:sp>
        <p:nvSpPr>
          <p:cNvPr id="125" name="Chevron 8"/>
          <p:cNvSpPr/>
          <p:nvPr/>
        </p:nvSpPr>
        <p:spPr>
          <a:xfrm>
            <a:off x="2999232" y="187452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ounded Rectangle 9"/>
          <p:cNvSpPr/>
          <p:nvPr/>
        </p:nvSpPr>
        <p:spPr>
          <a:xfrm>
            <a:off x="3364991" y="1691639"/>
            <a:ext cx="224028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0"/>
          <p:cNvSpPr txBox="1"/>
          <p:nvPr/>
        </p:nvSpPr>
        <p:spPr>
          <a:xfrm>
            <a:off x="4155463" y="1856232"/>
            <a:ext cx="659338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Input R</a:t>
            </a:r>
          </a:p>
        </p:txBody>
      </p:sp>
      <p:sp>
        <p:nvSpPr>
          <p:cNvPr id="128" name="Chevron 11"/>
          <p:cNvSpPr/>
          <p:nvPr/>
        </p:nvSpPr>
        <p:spPr>
          <a:xfrm>
            <a:off x="5678423" y="187452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ounded Rectangle 12"/>
          <p:cNvSpPr/>
          <p:nvPr/>
        </p:nvSpPr>
        <p:spPr>
          <a:xfrm>
            <a:off x="6044184" y="1691639"/>
            <a:ext cx="224028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13"/>
          <p:cNvSpPr txBox="1"/>
          <p:nvPr/>
        </p:nvSpPr>
        <p:spPr>
          <a:xfrm>
            <a:off x="6808374" y="1856232"/>
            <a:ext cx="711900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 = U / R</a:t>
            </a:r>
          </a:p>
        </p:txBody>
      </p:sp>
      <p:sp>
        <p:nvSpPr>
          <p:cNvPr id="131" name="Chevron 14"/>
          <p:cNvSpPr/>
          <p:nvPr/>
        </p:nvSpPr>
        <p:spPr>
          <a:xfrm>
            <a:off x="8357616" y="187452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15"/>
          <p:cNvSpPr/>
          <p:nvPr/>
        </p:nvSpPr>
        <p:spPr>
          <a:xfrm>
            <a:off x="8723376" y="1691639"/>
            <a:ext cx="224028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6"/>
          <p:cNvSpPr txBox="1"/>
          <p:nvPr/>
        </p:nvSpPr>
        <p:spPr>
          <a:xfrm>
            <a:off x="9481762" y="1856232"/>
            <a:ext cx="723507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 I</a:t>
            </a:r>
          </a:p>
        </p:txBody>
      </p:sp>
      <p:sp>
        <p:nvSpPr>
          <p:cNvPr id="134" name="TextBox 17"/>
          <p:cNvSpPr txBox="1"/>
          <p:nvPr/>
        </p:nvSpPr>
        <p:spPr>
          <a:xfrm>
            <a:off x="731519" y="2788919"/>
            <a:ext cx="5760722" cy="29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structure chart describes the solution flow independently of programming-language syntax.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makes the sequence of the solution visible before coding.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electrical example has voltage U and resistance R as inputs and current I as output.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formula can be transferred directly into Python.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assignment operator = places the quantity being calculated on the left.</a:t>
            </a:r>
          </a:p>
        </p:txBody>
      </p:sp>
      <p:sp>
        <p:nvSpPr>
          <p:cNvPr id="135" name="Rectangle 18"/>
          <p:cNvSpPr/>
          <p:nvPr/>
        </p:nvSpPr>
        <p:spPr>
          <a:xfrm>
            <a:off x="6812280" y="2486914"/>
            <a:ext cx="4663441" cy="228600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0"/>
          <p:cNvSpPr txBox="1"/>
          <p:nvPr/>
        </p:nvSpPr>
        <p:spPr>
          <a:xfrm>
            <a:off x="6953229" y="2783077"/>
            <a:ext cx="2202688" cy="1576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1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 = 230</a:t>
            </a:r>
            <a:br/>
            <a:r>
              <a:t>R = 11.8</a:t>
            </a:r>
            <a:br/>
            <a:r>
              <a:t>I = U / R</a:t>
            </a:r>
            <a:br/>
            <a:r>
              <a:t>b = "The current is:"</a:t>
            </a:r>
            <a:br/>
            <a:r>
              <a:t>print(b, I, " A")</a:t>
            </a:r>
          </a:p>
        </p:txBody>
      </p:sp>
      <p:sp>
        <p:nvSpPr>
          <p:cNvPr id="137" name="Rectangle 21"/>
          <p:cNvSpPr/>
          <p:nvPr/>
        </p:nvSpPr>
        <p:spPr>
          <a:xfrm>
            <a:off x="6812280" y="4909820"/>
            <a:ext cx="4663441" cy="914401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23"/>
          <p:cNvSpPr txBox="1"/>
          <p:nvPr/>
        </p:nvSpPr>
        <p:spPr>
          <a:xfrm>
            <a:off x="6772147" y="4509515"/>
            <a:ext cx="617983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39" name="TextBox 24"/>
          <p:cNvSpPr txBox="1"/>
          <p:nvPr/>
        </p:nvSpPr>
        <p:spPr>
          <a:xfrm>
            <a:off x="6986016" y="5229287"/>
            <a:ext cx="4315968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current is: 19.491525423728813 A</a:t>
            </a:r>
          </a:p>
        </p:txBody>
      </p:sp>
      <p:sp>
        <p:nvSpPr>
          <p:cNvPr id="140" name="TextBox 26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45" name="TextBox 4"/>
          <p:cNvSpPr txBox="1"/>
          <p:nvPr/>
        </p:nvSpPr>
        <p:spPr>
          <a:xfrm>
            <a:off x="548639" y="566927"/>
            <a:ext cx="6264621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What is happening in the linear program?</a:t>
            </a:r>
          </a:p>
        </p:txBody>
      </p:sp>
      <p:sp>
        <p:nvSpPr>
          <p:cNvPr id="146" name="Rectangle 6"/>
          <p:cNvSpPr/>
          <p:nvPr/>
        </p:nvSpPr>
        <p:spPr>
          <a:xfrm>
            <a:off x="640079" y="1554480"/>
            <a:ext cx="5120642" cy="347472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8"/>
          <p:cNvSpPr txBox="1"/>
          <p:nvPr/>
        </p:nvSpPr>
        <p:spPr>
          <a:xfrm>
            <a:off x="795527" y="1929384"/>
            <a:ext cx="2098404" cy="1449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 = 230</a:t>
            </a:r>
            <a:br/>
            <a:r>
              <a:t>R = 11.8</a:t>
            </a:r>
            <a:br/>
            <a:r>
              <a:t>I = U / R</a:t>
            </a:r>
            <a:br/>
            <a:r>
              <a:t>b = "The current is:"</a:t>
            </a:r>
            <a:br/>
            <a:r>
              <a:t>print(b, I, " A")</a:t>
            </a:r>
          </a:p>
        </p:txBody>
      </p:sp>
      <p:sp>
        <p:nvSpPr>
          <p:cNvPr id="148" name="TextBox 9"/>
          <p:cNvSpPr txBox="1"/>
          <p:nvPr/>
        </p:nvSpPr>
        <p:spPr>
          <a:xfrm>
            <a:off x="6172200" y="1645920"/>
            <a:ext cx="5166361" cy="247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 = 230 assigns a value to U.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 = 11.8 assigns a value to R.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= U / R uses the earlier values to calculate current.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 stores a text object.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print(...) produces the output.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 executes these statements sequentially.</a:t>
            </a:r>
          </a:p>
        </p:txBody>
      </p:sp>
      <p:sp>
        <p:nvSpPr>
          <p:cNvPr id="149" name="TextBox 15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53" name="TextBox 4"/>
          <p:cNvSpPr txBox="1"/>
          <p:nvPr/>
        </p:nvSpPr>
        <p:spPr>
          <a:xfrm>
            <a:off x="548639" y="566927"/>
            <a:ext cx="5415910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From one long program to functions</a:t>
            </a:r>
          </a:p>
        </p:txBody>
      </p:sp>
      <p:sp>
        <p:nvSpPr>
          <p:cNvPr id="154" name="TextBox 6"/>
          <p:cNvSpPr txBox="1"/>
          <p:nvPr/>
        </p:nvSpPr>
        <p:spPr>
          <a:xfrm>
            <a:off x="685799" y="1645919"/>
            <a:ext cx="10807702" cy="1805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Putting all statements for a complex task into one main program makes the source code difficult to follow.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subroutine technique breaks a complex problem into smaller, manageable subproblems.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modern programming terminology, these subroutines are called functions.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function combines a logically related set of instructions into one unit.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 improve clarity, simplify debugging and maintenance, and can be reused.</a:t>
            </a:r>
          </a:p>
        </p:txBody>
      </p:sp>
      <p:sp>
        <p:nvSpPr>
          <p:cNvPr id="155" name="Rectangle 7"/>
          <p:cNvSpPr/>
          <p:nvPr/>
        </p:nvSpPr>
        <p:spPr>
          <a:xfrm>
            <a:off x="658220" y="4981089"/>
            <a:ext cx="9790991" cy="1417321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9"/>
          <p:cNvSpPr txBox="1"/>
          <p:nvPr/>
        </p:nvSpPr>
        <p:spPr>
          <a:xfrm>
            <a:off x="811626" y="5173365"/>
            <a:ext cx="3992648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Think of a function as a named task</a:t>
            </a:r>
          </a:p>
        </p:txBody>
      </p:sp>
      <p:sp>
        <p:nvSpPr>
          <p:cNvPr id="157" name="TextBox 10"/>
          <p:cNvSpPr txBox="1"/>
          <p:nvPr/>
        </p:nvSpPr>
        <p:spPr>
          <a:xfrm>
            <a:off x="831956" y="5520148"/>
            <a:ext cx="9443519" cy="66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Instead of repeatedly writing the instructions for a calculation, give those instructions a name and call the name whenever the calculation is needed.</a:t>
            </a:r>
          </a:p>
        </p:txBody>
      </p:sp>
      <p:sp>
        <p:nvSpPr>
          <p:cNvPr id="158" name="Chevron 19"/>
          <p:cNvSpPr/>
          <p:nvPr/>
        </p:nvSpPr>
        <p:spPr>
          <a:xfrm>
            <a:off x="13149071" y="416052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Rounded Rectangle 20"/>
          <p:cNvSpPr/>
          <p:nvPr/>
        </p:nvSpPr>
        <p:spPr>
          <a:xfrm>
            <a:off x="13350239" y="3977638"/>
            <a:ext cx="178308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21"/>
          <p:cNvSpPr txBox="1"/>
          <p:nvPr/>
        </p:nvSpPr>
        <p:spPr>
          <a:xfrm>
            <a:off x="13964995" y="4142230"/>
            <a:ext cx="553571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Result</a:t>
            </a:r>
          </a:p>
        </p:txBody>
      </p:sp>
      <p:sp>
        <p:nvSpPr>
          <p:cNvPr id="161" name="TextBox 23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66" name="TextBox 4"/>
          <p:cNvSpPr txBox="1"/>
          <p:nvPr/>
        </p:nvSpPr>
        <p:spPr>
          <a:xfrm>
            <a:off x="548639" y="566927"/>
            <a:ext cx="5933944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basic anatomy of a Python function</a:t>
            </a:r>
          </a:p>
        </p:txBody>
      </p:sp>
      <p:sp>
        <p:nvSpPr>
          <p:cNvPr id="167" name="TextBox 5"/>
          <p:cNvSpPr txBox="1"/>
          <p:nvPr/>
        </p:nvSpPr>
        <p:spPr>
          <a:xfrm>
            <a:off x="576071" y="1069847"/>
            <a:ext cx="873071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function definition has a header and a body; the keyword def begins the definition.</a:t>
            </a:r>
          </a:p>
        </p:txBody>
      </p:sp>
      <p:sp>
        <p:nvSpPr>
          <p:cNvPr id="168" name="Rectangle 6"/>
          <p:cNvSpPr/>
          <p:nvPr/>
        </p:nvSpPr>
        <p:spPr>
          <a:xfrm>
            <a:off x="726690" y="1565738"/>
            <a:ext cx="5577842" cy="233172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8"/>
          <p:cNvSpPr txBox="1"/>
          <p:nvPr/>
        </p:nvSpPr>
        <p:spPr>
          <a:xfrm>
            <a:off x="886967" y="1975104"/>
            <a:ext cx="4448276" cy="174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functionname(parameter1, parameter2):</a:t>
            </a:r>
            <a:br/>
            <a:r>
              <a:t>    statement1</a:t>
            </a:r>
            <a:br/>
            <a:r>
              <a:t>    statement2</a:t>
            </a:r>
            <a:br/>
            <a:r>
              <a:t>    statement3</a:t>
            </a:r>
            <a:br/>
            <a:r>
              <a:t>    ...</a:t>
            </a:r>
            <a:br/>
            <a:r>
              <a:t>    return value</a:t>
            </a:r>
          </a:p>
        </p:txBody>
      </p:sp>
      <p:sp>
        <p:nvSpPr>
          <p:cNvPr id="170" name="TextBox 9"/>
          <p:cNvSpPr txBox="1"/>
          <p:nvPr/>
        </p:nvSpPr>
        <p:spPr>
          <a:xfrm>
            <a:off x="6629400" y="1645919"/>
            <a:ext cx="5368800" cy="247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introduces the function definition.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function name identifies the task.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Parentheses are required, even when there are no parameters.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colon ends the function header.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indented statements form the function body.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return sends a result back to the caller.</a:t>
            </a:r>
          </a:p>
        </p:txBody>
      </p:sp>
      <p:sp>
        <p:nvSpPr>
          <p:cNvPr id="171" name="Rectangle 10"/>
          <p:cNvSpPr/>
          <p:nvPr/>
        </p:nvSpPr>
        <p:spPr>
          <a:xfrm>
            <a:off x="731519" y="4343400"/>
            <a:ext cx="10698482" cy="1277326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12"/>
          <p:cNvSpPr txBox="1"/>
          <p:nvPr/>
        </p:nvSpPr>
        <p:spPr>
          <a:xfrm>
            <a:off x="932688" y="4425696"/>
            <a:ext cx="3081571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Python indentation matters</a:t>
            </a:r>
          </a:p>
        </p:txBody>
      </p:sp>
      <p:sp>
        <p:nvSpPr>
          <p:cNvPr id="173" name="TextBox 13"/>
          <p:cNvSpPr txBox="1"/>
          <p:nvPr/>
        </p:nvSpPr>
        <p:spPr>
          <a:xfrm>
            <a:off x="932688" y="4745735"/>
            <a:ext cx="10351008" cy="66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Statements belonging to a function must be indented evenly so the interpreter knows where the function body begins and ends.</a:t>
            </a:r>
          </a:p>
        </p:txBody>
      </p:sp>
      <p:sp>
        <p:nvSpPr>
          <p:cNvPr id="174" name="TextBox 15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79" name="TextBox 4"/>
          <p:cNvSpPr txBox="1"/>
          <p:nvPr/>
        </p:nvSpPr>
        <p:spPr>
          <a:xfrm>
            <a:off x="548639" y="566927"/>
            <a:ext cx="2667018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Built-in functions</a:t>
            </a:r>
          </a:p>
        </p:txBody>
      </p:sp>
      <p:sp>
        <p:nvSpPr>
          <p:cNvPr id="180" name="TextBox 5"/>
          <p:cNvSpPr txBox="1"/>
          <p:nvPr/>
        </p:nvSpPr>
        <p:spPr>
          <a:xfrm>
            <a:off x="576071" y="1069847"/>
            <a:ext cx="8695617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Python already provides functions that can be called without defining them yourself.</a:t>
            </a:r>
          </a:p>
        </p:txBody>
      </p:sp>
      <p:sp>
        <p:nvSpPr>
          <p:cNvPr id="181" name="TextBox 6"/>
          <p:cNvSpPr txBox="1"/>
          <p:nvPr/>
        </p:nvSpPr>
        <p:spPr>
          <a:xfrm>
            <a:off x="640080" y="1600200"/>
            <a:ext cx="6126480" cy="268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 provides 68 built-in functions.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already encountered include print(), input() and type().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Other selected functions include abs(), bin(), float(), int(), range(), round() and eval().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argument is the value passed when a function is called.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parameter is the name used inside the function to receive that value.</a:t>
            </a:r>
          </a:p>
        </p:txBody>
      </p:sp>
      <p:sp>
        <p:nvSpPr>
          <p:cNvPr id="182" name="Rectangle 7"/>
          <p:cNvSpPr/>
          <p:nvPr/>
        </p:nvSpPr>
        <p:spPr>
          <a:xfrm>
            <a:off x="7040880" y="1600200"/>
            <a:ext cx="4434841" cy="274320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9"/>
          <p:cNvSpPr txBox="1"/>
          <p:nvPr/>
        </p:nvSpPr>
        <p:spPr>
          <a:xfrm>
            <a:off x="7196328" y="1975104"/>
            <a:ext cx="3424585" cy="174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value = input("Enter voltage: ")</a:t>
            </a:r>
            <a:br/>
            <a:r>
              <a:t>U = float(value)</a:t>
            </a:r>
            <a:br/>
            <a:br/>
            <a:r>
              <a:t>print("Voltage =", U)</a:t>
            </a:r>
            <a:br/>
            <a:r>
              <a:t>print("Type =", type(U))</a:t>
            </a:r>
            <a:br/>
            <a:r>
              <a:t>print("Absolute value =", abs(U))</a:t>
            </a:r>
          </a:p>
        </p:txBody>
      </p:sp>
      <p:sp>
        <p:nvSpPr>
          <p:cNvPr id="184" name="TextBox 15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89" name="TextBox 4"/>
          <p:cNvSpPr txBox="1"/>
          <p:nvPr/>
        </p:nvSpPr>
        <p:spPr>
          <a:xfrm>
            <a:off x="548639" y="566927"/>
            <a:ext cx="8403895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Functions without parameters and without return values</a:t>
            </a:r>
          </a:p>
        </p:txBody>
      </p:sp>
      <p:sp>
        <p:nvSpPr>
          <p:cNvPr id="190" name="TextBox 5"/>
          <p:cNvSpPr txBox="1"/>
          <p:nvPr/>
        </p:nvSpPr>
        <p:spPr>
          <a:xfrm>
            <a:off x="576071" y="1069847"/>
            <a:ext cx="6607558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function performs a self-contained task and prints its result.</a:t>
            </a:r>
          </a:p>
        </p:txBody>
      </p:sp>
      <p:sp>
        <p:nvSpPr>
          <p:cNvPr id="191" name="Rectangle 6"/>
          <p:cNvSpPr/>
          <p:nvPr/>
        </p:nvSpPr>
        <p:spPr>
          <a:xfrm>
            <a:off x="594359" y="1508759"/>
            <a:ext cx="6400801" cy="4533304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8"/>
          <p:cNvSpPr txBox="1"/>
          <p:nvPr/>
        </p:nvSpPr>
        <p:spPr>
          <a:xfrm>
            <a:off x="749808" y="1883663"/>
            <a:ext cx="2842667" cy="407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U, R = 230, 460</a:t>
            </a:r>
            <a:br/>
            <a:r>
              <a:t>t = 8</a:t>
            </a:r>
            <a:br/>
            <a:r>
              <a:t>price = 0.3</a:t>
            </a:r>
            <a:br/>
            <a:br/>
            <a:r>
              <a:t>def current():</a:t>
            </a:r>
            <a:br/>
            <a:r>
              <a:t>    I = U / R</a:t>
            </a:r>
            <a:br/>
            <a:r>
              <a:t>    print("Current: ", I, " A")</a:t>
            </a:r>
            <a:br/>
            <a:br/>
            <a:r>
              <a:t>def power():</a:t>
            </a:r>
            <a:br/>
            <a:r>
              <a:t>    P = U**2 / R</a:t>
            </a:r>
            <a:br/>
            <a:r>
              <a:t>    print("Power : ", P, " W")</a:t>
            </a:r>
            <a:br/>
            <a:br/>
            <a:r>
              <a:t>current()</a:t>
            </a:r>
            <a:br/>
            <a:r>
              <a:t>power()</a:t>
            </a:r>
          </a:p>
        </p:txBody>
      </p:sp>
      <p:sp>
        <p:nvSpPr>
          <p:cNvPr id="193" name="TextBox 9"/>
          <p:cNvSpPr txBox="1"/>
          <p:nvPr/>
        </p:nvSpPr>
        <p:spPr>
          <a:xfrm>
            <a:off x="7269480" y="1737360"/>
            <a:ext cx="4632274" cy="2592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functions have empty parentheses because they take no parameters.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calculations happen inside each function.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functions print their results, so they do not need a return value for this example.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functions are executed only when their names are called.</a:t>
            </a:r>
          </a:p>
        </p:txBody>
      </p:sp>
      <p:sp>
        <p:nvSpPr>
          <p:cNvPr id="194" name="TextBox 15"/>
          <p:cNvSpPr txBox="1"/>
          <p:nvPr/>
        </p:nvSpPr>
        <p:spPr>
          <a:xfrm>
            <a:off x="11543030" y="164592"/>
            <a:ext cx="16129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199" name="TextBox 4"/>
          <p:cNvSpPr txBox="1"/>
          <p:nvPr/>
        </p:nvSpPr>
        <p:spPr>
          <a:xfrm>
            <a:off x="548639" y="566927"/>
            <a:ext cx="6841423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Functions with parameters and a return value</a:t>
            </a:r>
          </a:p>
        </p:txBody>
      </p:sp>
      <p:sp>
        <p:nvSpPr>
          <p:cNvPr id="200" name="TextBox 5"/>
          <p:cNvSpPr txBox="1"/>
          <p:nvPr/>
        </p:nvSpPr>
        <p:spPr>
          <a:xfrm>
            <a:off x="576071" y="1069847"/>
            <a:ext cx="7108737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Now the function becomes reusable: inputs go in, a result comes out.</a:t>
            </a:r>
          </a:p>
        </p:txBody>
      </p:sp>
      <p:sp>
        <p:nvSpPr>
          <p:cNvPr id="201" name="Rounded Rectangle 6"/>
          <p:cNvSpPr/>
          <p:nvPr/>
        </p:nvSpPr>
        <p:spPr>
          <a:xfrm>
            <a:off x="731519" y="1554480"/>
            <a:ext cx="2194562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7"/>
          <p:cNvSpPr txBox="1"/>
          <p:nvPr/>
        </p:nvSpPr>
        <p:spPr>
          <a:xfrm>
            <a:off x="1529799" y="1719072"/>
            <a:ext cx="598002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U, R</a:t>
            </a:r>
          </a:p>
        </p:txBody>
      </p:sp>
      <p:sp>
        <p:nvSpPr>
          <p:cNvPr id="203" name="Chevron 8"/>
          <p:cNvSpPr/>
          <p:nvPr/>
        </p:nvSpPr>
        <p:spPr>
          <a:xfrm>
            <a:off x="2999232" y="173736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ounded Rectangle 9"/>
          <p:cNvSpPr/>
          <p:nvPr/>
        </p:nvSpPr>
        <p:spPr>
          <a:xfrm>
            <a:off x="3310128" y="1554480"/>
            <a:ext cx="219456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0"/>
          <p:cNvSpPr txBox="1"/>
          <p:nvPr/>
        </p:nvSpPr>
        <p:spPr>
          <a:xfrm>
            <a:off x="3617088" y="1719072"/>
            <a:ext cx="1580640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current(U, R)</a:t>
            </a:r>
          </a:p>
        </p:txBody>
      </p:sp>
      <p:sp>
        <p:nvSpPr>
          <p:cNvPr id="206" name="Chevron 11"/>
          <p:cNvSpPr/>
          <p:nvPr/>
        </p:nvSpPr>
        <p:spPr>
          <a:xfrm>
            <a:off x="5577840" y="173736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Rounded Rectangle 12"/>
          <p:cNvSpPr/>
          <p:nvPr/>
        </p:nvSpPr>
        <p:spPr>
          <a:xfrm>
            <a:off x="5888735" y="1554480"/>
            <a:ext cx="219456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13"/>
          <p:cNvSpPr txBox="1"/>
          <p:nvPr/>
        </p:nvSpPr>
        <p:spPr>
          <a:xfrm>
            <a:off x="6466438" y="1719072"/>
            <a:ext cx="1039154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 = U / R</a:t>
            </a:r>
          </a:p>
        </p:txBody>
      </p:sp>
      <p:sp>
        <p:nvSpPr>
          <p:cNvPr id="209" name="Rectangle 14"/>
          <p:cNvSpPr/>
          <p:nvPr/>
        </p:nvSpPr>
        <p:spPr>
          <a:xfrm>
            <a:off x="685799" y="2560320"/>
            <a:ext cx="5577842" cy="278892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16"/>
          <p:cNvSpPr txBox="1"/>
          <p:nvPr/>
        </p:nvSpPr>
        <p:spPr>
          <a:xfrm>
            <a:off x="841247" y="2935223"/>
            <a:ext cx="2444801" cy="232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current(U, R):</a:t>
            </a:r>
            <a:br/>
            <a:r>
              <a:t>    return U / R</a:t>
            </a:r>
            <a:br/>
            <a:br/>
            <a:r>
              <a:t>Uq = 230</a:t>
            </a:r>
            <a:br/>
            <a:r>
              <a:t>RLoad = 23</a:t>
            </a:r>
            <a:br/>
            <a:br/>
            <a:r>
              <a:t>I = current(Uq, RLoad)</a:t>
            </a:r>
            <a:br/>
            <a:r>
              <a:t>print("Current:", I, "A")</a:t>
            </a:r>
          </a:p>
        </p:txBody>
      </p:sp>
      <p:sp>
        <p:nvSpPr>
          <p:cNvPr id="211" name="TextBox 17"/>
          <p:cNvSpPr txBox="1"/>
          <p:nvPr/>
        </p:nvSpPr>
        <p:spPr>
          <a:xfrm>
            <a:off x="6426411" y="2565402"/>
            <a:ext cx="5495591" cy="2681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Parameters represent the inputs of the function.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return statement provides the calculated output.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values supplied in the function call are arguments.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same function can be called with different values.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Variables created inside the function have local validity.</a:t>
            </a:r>
          </a:p>
        </p:txBody>
      </p:sp>
      <p:sp>
        <p:nvSpPr>
          <p:cNvPr id="212" name="TextBox 19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17" name="TextBox 4"/>
          <p:cNvSpPr txBox="1"/>
          <p:nvPr/>
        </p:nvSpPr>
        <p:spPr>
          <a:xfrm>
            <a:off x="548639" y="566927"/>
            <a:ext cx="8716825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Parameter vs argument — an important terminology point</a:t>
            </a:r>
          </a:p>
        </p:txBody>
      </p:sp>
      <p:sp>
        <p:nvSpPr>
          <p:cNvPr id="218" name="Rounded Rectangle 6"/>
          <p:cNvSpPr/>
          <p:nvPr/>
        </p:nvSpPr>
        <p:spPr>
          <a:xfrm>
            <a:off x="914400" y="1554480"/>
            <a:ext cx="192024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7"/>
          <p:cNvSpPr txBox="1"/>
          <p:nvPr/>
        </p:nvSpPr>
        <p:spPr>
          <a:xfrm>
            <a:off x="1279165" y="1719072"/>
            <a:ext cx="1190710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220" name="Chevron 8"/>
          <p:cNvSpPr/>
          <p:nvPr/>
        </p:nvSpPr>
        <p:spPr>
          <a:xfrm>
            <a:off x="2907792" y="1737360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ounded Rectangle 9"/>
          <p:cNvSpPr/>
          <p:nvPr/>
        </p:nvSpPr>
        <p:spPr>
          <a:xfrm>
            <a:off x="3429000" y="1554480"/>
            <a:ext cx="192024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0"/>
          <p:cNvSpPr txBox="1"/>
          <p:nvPr/>
        </p:nvSpPr>
        <p:spPr>
          <a:xfrm>
            <a:off x="4111265" y="1719072"/>
            <a:ext cx="555710" cy="372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Call</a:t>
            </a:r>
          </a:p>
        </p:txBody>
      </p:sp>
      <p:sp>
        <p:nvSpPr>
          <p:cNvPr id="223" name="Rectangle 11"/>
          <p:cNvSpPr/>
          <p:nvPr/>
        </p:nvSpPr>
        <p:spPr>
          <a:xfrm>
            <a:off x="731519" y="2514600"/>
            <a:ext cx="4937762" cy="196596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13"/>
          <p:cNvSpPr txBox="1"/>
          <p:nvPr/>
        </p:nvSpPr>
        <p:spPr>
          <a:xfrm>
            <a:off x="886967" y="2889503"/>
            <a:ext cx="1839319" cy="115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current(U, R):</a:t>
            </a:r>
            <a:br/>
            <a:r>
              <a:t>    return U / R</a:t>
            </a:r>
            <a:br/>
            <a:br/>
            <a:r>
              <a:t>current(230, 23)</a:t>
            </a:r>
          </a:p>
        </p:txBody>
      </p:sp>
      <p:sp>
        <p:nvSpPr>
          <p:cNvPr id="225" name="Rectangle 14"/>
          <p:cNvSpPr/>
          <p:nvPr/>
        </p:nvSpPr>
        <p:spPr>
          <a:xfrm>
            <a:off x="6126479" y="2468879"/>
            <a:ext cx="5212081" cy="1322042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16"/>
          <p:cNvSpPr txBox="1"/>
          <p:nvPr/>
        </p:nvSpPr>
        <p:spPr>
          <a:xfrm>
            <a:off x="6327647" y="2551176"/>
            <a:ext cx="1260412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Parameter</a:t>
            </a:r>
          </a:p>
        </p:txBody>
      </p:sp>
      <p:sp>
        <p:nvSpPr>
          <p:cNvPr id="227" name="TextBox 17"/>
          <p:cNvSpPr txBox="1"/>
          <p:nvPr/>
        </p:nvSpPr>
        <p:spPr>
          <a:xfrm>
            <a:off x="6327647" y="2871216"/>
            <a:ext cx="4864609" cy="956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 and R are parameter names in the function definition. They tell the function what inputs it expects.</a:t>
            </a:r>
          </a:p>
        </p:txBody>
      </p:sp>
      <p:sp>
        <p:nvSpPr>
          <p:cNvPr id="228" name="Rectangle 18"/>
          <p:cNvSpPr/>
          <p:nvPr/>
        </p:nvSpPr>
        <p:spPr>
          <a:xfrm>
            <a:off x="6126479" y="4020820"/>
            <a:ext cx="5212081" cy="1051561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0"/>
          <p:cNvSpPr txBox="1"/>
          <p:nvPr/>
        </p:nvSpPr>
        <p:spPr>
          <a:xfrm>
            <a:off x="6327647" y="4014215"/>
            <a:ext cx="1218740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Argument</a:t>
            </a:r>
          </a:p>
        </p:txBody>
      </p:sp>
      <p:sp>
        <p:nvSpPr>
          <p:cNvPr id="230" name="TextBox 21"/>
          <p:cNvSpPr txBox="1"/>
          <p:nvPr/>
        </p:nvSpPr>
        <p:spPr>
          <a:xfrm>
            <a:off x="6327647" y="4334255"/>
            <a:ext cx="4864609" cy="66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230 and 23 are arguments: actual values passed into the function call.</a:t>
            </a:r>
          </a:p>
        </p:txBody>
      </p:sp>
      <p:sp>
        <p:nvSpPr>
          <p:cNvPr id="231" name="TextBox 27"/>
          <p:cNvSpPr txBox="1"/>
          <p:nvPr/>
        </p:nvSpPr>
        <p:spPr>
          <a:xfrm>
            <a:off x="11490122" y="164592"/>
            <a:ext cx="214199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36" name="TextBox 4"/>
          <p:cNvSpPr txBox="1"/>
          <p:nvPr/>
        </p:nvSpPr>
        <p:spPr>
          <a:xfrm>
            <a:off x="548639" y="566927"/>
            <a:ext cx="3393336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Multiple return values</a:t>
            </a:r>
          </a:p>
        </p:txBody>
      </p:sp>
      <p:sp>
        <p:nvSpPr>
          <p:cNvPr id="237" name="TextBox 5"/>
          <p:cNvSpPr txBox="1"/>
          <p:nvPr/>
        </p:nvSpPr>
        <p:spPr>
          <a:xfrm>
            <a:off x="576071" y="1069847"/>
            <a:ext cx="525384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Python allows a function to return multiple values.</a:t>
            </a:r>
          </a:p>
        </p:txBody>
      </p:sp>
      <p:sp>
        <p:nvSpPr>
          <p:cNvPr id="238" name="Rectangle 6"/>
          <p:cNvSpPr/>
          <p:nvPr/>
        </p:nvSpPr>
        <p:spPr>
          <a:xfrm>
            <a:off x="594359" y="1463039"/>
            <a:ext cx="6400801" cy="4389122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7"/>
          <p:cNvSpPr txBox="1"/>
          <p:nvPr/>
        </p:nvSpPr>
        <p:spPr>
          <a:xfrm>
            <a:off x="786384" y="1536191"/>
            <a:ext cx="1631117" cy="213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A0BEC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Core structure from Listing 2.6</a:t>
            </a:r>
          </a:p>
        </p:txBody>
      </p:sp>
      <p:sp>
        <p:nvSpPr>
          <p:cNvPr id="240" name="TextBox 8"/>
          <p:cNvSpPr txBox="1"/>
          <p:nvPr/>
        </p:nvSpPr>
        <p:spPr>
          <a:xfrm>
            <a:off x="749808" y="1837943"/>
            <a:ext cx="4127922" cy="2618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cylinder(d, l):</a:t>
            </a:r>
            <a:br/>
            <a:r>
              <a:t>    V = round(0.785 * d**2 * l, 3)</a:t>
            </a:r>
            <a:br/>
            <a:r>
              <a:t>    m = round(7.85 * V, 3)</a:t>
            </a:r>
            <a:br/>
            <a:r>
              <a:t>    J = round(0.5 * m * (d / 2 / 10)**2, 3)</a:t>
            </a:r>
            <a:br/>
            <a:r>
              <a:t>    Mb = round(1.2 * J, 3)</a:t>
            </a:r>
            <a:br/>
            <a:r>
              <a:t>    return (V, m, J, Mb)</a:t>
            </a:r>
            <a:br/>
            <a:br/>
            <a:r>
              <a:t>T = cylinder(1, 10)</a:t>
            </a:r>
            <a:br/>
            <a:r>
              <a:t>print(T)</a:t>
            </a:r>
          </a:p>
        </p:txBody>
      </p:sp>
      <p:sp>
        <p:nvSpPr>
          <p:cNvPr id="241" name="TextBox 9"/>
          <p:cNvSpPr txBox="1"/>
          <p:nvPr/>
        </p:nvSpPr>
        <p:spPr>
          <a:xfrm>
            <a:off x="7269480" y="1737359"/>
            <a:ext cx="4160521" cy="28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One function calculates several related quantities.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return statement returns a tuple containing the four results.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returned values can then be accessed individually using [0], [1], [2], [3].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is useful when several outputs belong naturally to one calculation.</a:t>
            </a:r>
          </a:p>
        </p:txBody>
      </p:sp>
      <p:sp>
        <p:nvSpPr>
          <p:cNvPr id="242" name="TextBox 15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47" name="TextBox 4"/>
          <p:cNvSpPr txBox="1"/>
          <p:nvPr/>
        </p:nvSpPr>
        <p:spPr>
          <a:xfrm>
            <a:off x="548639" y="566927"/>
            <a:ext cx="5051077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Functions can call other functions</a:t>
            </a:r>
          </a:p>
        </p:txBody>
      </p:sp>
      <p:sp>
        <p:nvSpPr>
          <p:cNvPr id="248" name="TextBox 5"/>
          <p:cNvSpPr txBox="1"/>
          <p:nvPr/>
        </p:nvSpPr>
        <p:spPr>
          <a:xfrm>
            <a:off x="576071" y="1069847"/>
            <a:ext cx="5791484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larger calculation can be built from smaller functions.</a:t>
            </a:r>
          </a:p>
        </p:txBody>
      </p:sp>
      <p:sp>
        <p:nvSpPr>
          <p:cNvPr id="249" name="Rectangle 6"/>
          <p:cNvSpPr/>
          <p:nvPr/>
        </p:nvSpPr>
        <p:spPr>
          <a:xfrm>
            <a:off x="594359" y="1554480"/>
            <a:ext cx="6446522" cy="425196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8"/>
          <p:cNvSpPr txBox="1"/>
          <p:nvPr/>
        </p:nvSpPr>
        <p:spPr>
          <a:xfrm>
            <a:off x="749808" y="1929384"/>
            <a:ext cx="4217219" cy="320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volume(d, l):</a:t>
            </a:r>
            <a:br/>
            <a:r>
              <a:t>    return 0.785 * d**2 * l</a:t>
            </a:r>
            <a:br/>
            <a:br/>
            <a:r>
              <a:t>def mass(d, l):</a:t>
            </a:r>
            <a:br/>
            <a:r>
              <a:t>    return rho * volume(d, l)</a:t>
            </a:r>
            <a:br/>
            <a:br/>
            <a:r>
              <a:t>def moment_of_inertia(d, l):</a:t>
            </a:r>
            <a:br/>
            <a:r>
              <a:t>    return 0.5 * mass(d, l) * (d / 2 / 10)**2</a:t>
            </a:r>
            <a:br/>
            <a:br/>
            <a:r>
              <a:t>def acceleration_torque(d, l, alpha):</a:t>
            </a:r>
            <a:br/>
            <a:r>
              <a:t>    return alpha * moment_of_inertia(d, l)</a:t>
            </a:r>
          </a:p>
        </p:txBody>
      </p:sp>
      <p:sp>
        <p:nvSpPr>
          <p:cNvPr id="251" name="TextBox 20"/>
          <p:cNvSpPr txBox="1"/>
          <p:nvPr/>
        </p:nvSpPr>
        <p:spPr>
          <a:xfrm>
            <a:off x="7359189" y="1596290"/>
            <a:ext cx="4683611" cy="200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mass() calls volume().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moment_of_inertia() calls mass().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acceleration_torque() calls moment_of_inertia().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final result therefore depends on a chain of smaller calculations.</a:t>
            </a:r>
          </a:p>
        </p:txBody>
      </p:sp>
      <p:sp>
        <p:nvSpPr>
          <p:cNvPr id="252" name="TextBox 22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57" name="TextBox 4"/>
          <p:cNvSpPr txBox="1"/>
          <p:nvPr/>
        </p:nvSpPr>
        <p:spPr>
          <a:xfrm>
            <a:off x="548639" y="566927"/>
            <a:ext cx="3269771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Branching Structures</a:t>
            </a:r>
          </a:p>
        </p:txBody>
      </p:sp>
      <p:sp>
        <p:nvSpPr>
          <p:cNvPr id="258" name="TextBox 5"/>
          <p:cNvSpPr txBox="1"/>
          <p:nvPr/>
        </p:nvSpPr>
        <p:spPr>
          <a:xfrm>
            <a:off x="576071" y="1069847"/>
            <a:ext cx="7031595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program must sometimes choose what to do based on a condition.</a:t>
            </a:r>
          </a:p>
        </p:txBody>
      </p:sp>
      <p:sp>
        <p:nvSpPr>
          <p:cNvPr id="259" name="TextBox 6"/>
          <p:cNvSpPr txBox="1"/>
          <p:nvPr/>
        </p:nvSpPr>
        <p:spPr>
          <a:xfrm>
            <a:off x="685799" y="1645920"/>
            <a:ext cx="6117338" cy="230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Branching is needed when different cases require different actions.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book distinguishes single selection and multiple selection.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basic question is: “Does this condition apply?”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 uses indentation to define the statements belonging to each branch.</a:t>
            </a:r>
          </a:p>
        </p:txBody>
      </p:sp>
      <p:sp>
        <p:nvSpPr>
          <p:cNvPr id="260" name="TextBox 17"/>
          <p:cNvSpPr txBox="1"/>
          <p:nvPr/>
        </p:nvSpPr>
        <p:spPr>
          <a:xfrm>
            <a:off x="7246131" y="1800032"/>
            <a:ext cx="1741251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key syntax</a:t>
            </a:r>
          </a:p>
        </p:txBody>
      </p:sp>
      <p:sp>
        <p:nvSpPr>
          <p:cNvPr id="261" name="TextBox 18"/>
          <p:cNvSpPr txBox="1"/>
          <p:nvPr/>
        </p:nvSpPr>
        <p:spPr>
          <a:xfrm>
            <a:off x="7246131" y="2120073"/>
            <a:ext cx="4133089" cy="124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condition:</a:t>
            </a:r>
            <a:br/>
            <a:r>
              <a:t>    statements</a:t>
            </a:r>
            <a:br/>
            <a:r>
              <a:t>else:</a:t>
            </a:r>
            <a:br/>
            <a:r>
              <a:t>    statements</a:t>
            </a:r>
          </a:p>
        </p:txBody>
      </p:sp>
      <p:sp>
        <p:nvSpPr>
          <p:cNvPr id="262" name="TextBox 24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67" name="TextBox 4"/>
          <p:cNvSpPr txBox="1"/>
          <p:nvPr/>
        </p:nvSpPr>
        <p:spPr>
          <a:xfrm>
            <a:off x="548639" y="566927"/>
            <a:ext cx="6952598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Single selection — quadratic equation example</a:t>
            </a:r>
          </a:p>
        </p:txBody>
      </p:sp>
      <p:sp>
        <p:nvSpPr>
          <p:cNvPr id="268" name="Rectangle 6"/>
          <p:cNvSpPr/>
          <p:nvPr/>
        </p:nvSpPr>
        <p:spPr>
          <a:xfrm>
            <a:off x="594359" y="1417320"/>
            <a:ext cx="6629401" cy="448056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8"/>
          <p:cNvSpPr txBox="1"/>
          <p:nvPr/>
        </p:nvSpPr>
        <p:spPr>
          <a:xfrm>
            <a:off x="749808" y="1792224"/>
            <a:ext cx="4310981" cy="349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 math as m</a:t>
            </a:r>
            <a:br/>
            <a:br/>
            <a:r>
              <a:t>p = -8.0</a:t>
            </a:r>
            <a:br/>
            <a:r>
              <a:t>q = 7.0</a:t>
            </a:r>
            <a:br/>
            <a:r>
              <a:t>D = (p / 2)**2 - q</a:t>
            </a:r>
            <a:br/>
            <a:br/>
            <a:r>
              <a:t>if D &gt;= 0:</a:t>
            </a:r>
            <a:br/>
            <a:r>
              <a:t>    x1 = -p / 2 + m.sqrt(D)</a:t>
            </a:r>
            <a:br/>
            <a:r>
              <a:t>    x2 = -p / 2 - m.sqrt(D)</a:t>
            </a:r>
            <a:br/>
            <a:r>
              <a:t>    print("x1 =", x1, "x2 =", x2)</a:t>
            </a:r>
            <a:br/>
            <a:r>
              <a:t>else:</a:t>
            </a:r>
            <a:br/>
            <a:r>
              <a:t>    print("The equation cannot be solved!")</a:t>
            </a:r>
          </a:p>
        </p:txBody>
      </p:sp>
      <p:sp>
        <p:nvSpPr>
          <p:cNvPr id="270" name="Rounded Rectangle 9"/>
          <p:cNvSpPr/>
          <p:nvPr/>
        </p:nvSpPr>
        <p:spPr>
          <a:xfrm>
            <a:off x="7543800" y="1828800"/>
            <a:ext cx="114300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10"/>
          <p:cNvSpPr txBox="1"/>
          <p:nvPr/>
        </p:nvSpPr>
        <p:spPr>
          <a:xfrm>
            <a:off x="7657372" y="1993392"/>
            <a:ext cx="915856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Compute D</a:t>
            </a:r>
          </a:p>
        </p:txBody>
      </p:sp>
      <p:sp>
        <p:nvSpPr>
          <p:cNvPr id="272" name="Chevron 11"/>
          <p:cNvSpPr/>
          <p:nvPr/>
        </p:nvSpPr>
        <p:spPr>
          <a:xfrm>
            <a:off x="8721852" y="20116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ounded Rectangle 12"/>
          <p:cNvSpPr/>
          <p:nvPr/>
        </p:nvSpPr>
        <p:spPr>
          <a:xfrm>
            <a:off x="8961119" y="1828800"/>
            <a:ext cx="11430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13"/>
          <p:cNvSpPr txBox="1"/>
          <p:nvPr/>
        </p:nvSpPr>
        <p:spPr>
          <a:xfrm>
            <a:off x="9251804" y="1993392"/>
            <a:ext cx="561633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 ≥ 0?</a:t>
            </a:r>
          </a:p>
        </p:txBody>
      </p:sp>
      <p:sp>
        <p:nvSpPr>
          <p:cNvPr id="275" name="Chevron 14"/>
          <p:cNvSpPr/>
          <p:nvPr/>
        </p:nvSpPr>
        <p:spPr>
          <a:xfrm>
            <a:off x="10126471" y="20116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Rounded Rectangle 15"/>
          <p:cNvSpPr/>
          <p:nvPr/>
        </p:nvSpPr>
        <p:spPr>
          <a:xfrm>
            <a:off x="10378440" y="1828800"/>
            <a:ext cx="11430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16"/>
          <p:cNvSpPr txBox="1"/>
          <p:nvPr/>
        </p:nvSpPr>
        <p:spPr>
          <a:xfrm>
            <a:off x="10422522" y="1993392"/>
            <a:ext cx="1054836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Solve / report</a:t>
            </a:r>
          </a:p>
        </p:txBody>
      </p:sp>
      <p:sp>
        <p:nvSpPr>
          <p:cNvPr id="278" name="TextBox 17"/>
          <p:cNvSpPr txBox="1"/>
          <p:nvPr/>
        </p:nvSpPr>
        <p:spPr>
          <a:xfrm>
            <a:off x="7406640" y="3108960"/>
            <a:ext cx="4114801" cy="2211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D is non-negative, the program calculates the two real roots.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D is negative, the program does not attempt the real square root.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branch therefore protects the calculation from an invalid real-number case.</a:t>
            </a:r>
          </a:p>
        </p:txBody>
      </p:sp>
      <p:sp>
        <p:nvSpPr>
          <p:cNvPr id="279" name="TextBox 23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84" name="TextBox 4"/>
          <p:cNvSpPr txBox="1"/>
          <p:nvPr/>
        </p:nvSpPr>
        <p:spPr>
          <a:xfrm>
            <a:off x="548639" y="566927"/>
            <a:ext cx="3980184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Multiple selection with elif</a:t>
            </a:r>
          </a:p>
        </p:txBody>
      </p:sp>
      <p:sp>
        <p:nvSpPr>
          <p:cNvPr id="285" name="TextBox 5"/>
          <p:cNvSpPr txBox="1"/>
          <p:nvPr/>
        </p:nvSpPr>
        <p:spPr>
          <a:xfrm>
            <a:off x="576071" y="1069847"/>
            <a:ext cx="8426610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When there are several possible ranges or cases, Python checks them in sequence.</a:t>
            </a:r>
          </a:p>
        </p:txBody>
      </p:sp>
      <p:sp>
        <p:nvSpPr>
          <p:cNvPr id="286" name="Rectangle 6"/>
          <p:cNvSpPr/>
          <p:nvPr/>
        </p:nvSpPr>
        <p:spPr>
          <a:xfrm>
            <a:off x="502919" y="1417319"/>
            <a:ext cx="6812282" cy="457200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8"/>
          <p:cNvSpPr txBox="1"/>
          <p:nvPr/>
        </p:nvSpPr>
        <p:spPr>
          <a:xfrm>
            <a:off x="658368" y="1792223"/>
            <a:ext cx="5157813" cy="320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rate1, rate2, rate3 = 0.3, 0.25, 0.2</a:t>
            </a:r>
            <a:br/>
            <a:r>
              <a:t>consumption = 5500</a:t>
            </a:r>
            <a:br/>
            <a:br/>
            <a:r>
              <a:t>if 0 &lt; consumption &lt;= 5000:</a:t>
            </a:r>
            <a:br/>
            <a:r>
              <a:t>    print("Amount for rate1:", consumption * rate1)</a:t>
            </a:r>
            <a:br/>
            <a:r>
              <a:t>elif 5000 &lt; consumption &lt;= 10000:</a:t>
            </a:r>
            <a:br/>
            <a:r>
              <a:t>    print("Amount for rate2:", consumption * rate2)</a:t>
            </a:r>
            <a:br/>
            <a:r>
              <a:t>elif 10000 &lt; consumption &lt;= 30000:</a:t>
            </a:r>
            <a:br/>
            <a:r>
              <a:t>    print("Amount for rate3:", consumption * rate3)</a:t>
            </a:r>
            <a:br/>
            <a:r>
              <a:t>else:</a:t>
            </a:r>
            <a:br/>
            <a:r>
              <a:t>    print("industry_rate!")</a:t>
            </a:r>
          </a:p>
        </p:txBody>
      </p:sp>
      <p:sp>
        <p:nvSpPr>
          <p:cNvPr id="288" name="TextBox 9"/>
          <p:cNvSpPr txBox="1"/>
          <p:nvPr/>
        </p:nvSpPr>
        <p:spPr>
          <a:xfrm>
            <a:off x="7543800" y="1737359"/>
            <a:ext cx="4378595" cy="230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first matching condition is selected.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elif means “otherwise, check this next condition.”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else handles values that fall outside all specified ranges.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5,500 kWh, the second range is selected.</a:t>
            </a:r>
          </a:p>
        </p:txBody>
      </p:sp>
      <p:sp>
        <p:nvSpPr>
          <p:cNvPr id="289" name="TextBox 15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-6198" y="166673"/>
            <a:ext cx="12191696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294" name="TextBox 4"/>
          <p:cNvSpPr txBox="1"/>
          <p:nvPr/>
        </p:nvSpPr>
        <p:spPr>
          <a:xfrm>
            <a:off x="548639" y="566927"/>
            <a:ext cx="3211673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Repetitive Structures</a:t>
            </a:r>
          </a:p>
        </p:txBody>
      </p:sp>
      <p:sp>
        <p:nvSpPr>
          <p:cNvPr id="295" name="TextBox 5"/>
          <p:cNvSpPr txBox="1"/>
          <p:nvPr/>
        </p:nvSpPr>
        <p:spPr>
          <a:xfrm>
            <a:off x="576071" y="1069847"/>
            <a:ext cx="7616117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Loops are used when a statement block has to be executed multiple times.</a:t>
            </a:r>
          </a:p>
        </p:txBody>
      </p:sp>
      <p:sp>
        <p:nvSpPr>
          <p:cNvPr id="296" name="TextBox 6"/>
          <p:cNvSpPr txBox="1"/>
          <p:nvPr/>
        </p:nvSpPr>
        <p:spPr>
          <a:xfrm>
            <a:off x="685799" y="1600200"/>
            <a:ext cx="10646222" cy="1043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 provides two loop constructs in this: while and for.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Ex- Rectangle sums for numerical integration.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key distinction is how the repetition is controlled.</a:t>
            </a:r>
          </a:p>
        </p:txBody>
      </p:sp>
      <p:sp>
        <p:nvSpPr>
          <p:cNvPr id="297" name="Rounded Rectangle 7"/>
          <p:cNvSpPr/>
          <p:nvPr/>
        </p:nvSpPr>
        <p:spPr>
          <a:xfrm>
            <a:off x="2784783" y="3872184"/>
            <a:ext cx="164592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8"/>
          <p:cNvSpPr txBox="1"/>
          <p:nvPr/>
        </p:nvSpPr>
        <p:spPr>
          <a:xfrm>
            <a:off x="3266388" y="4036775"/>
            <a:ext cx="682711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while</a:t>
            </a:r>
          </a:p>
        </p:txBody>
      </p:sp>
      <p:sp>
        <p:nvSpPr>
          <p:cNvPr id="299" name="Chevron 9"/>
          <p:cNvSpPr/>
          <p:nvPr/>
        </p:nvSpPr>
        <p:spPr>
          <a:xfrm>
            <a:off x="4503855" y="4055064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ounded Rectangle 10"/>
          <p:cNvSpPr/>
          <p:nvPr/>
        </p:nvSpPr>
        <p:spPr>
          <a:xfrm>
            <a:off x="4778175" y="3872184"/>
            <a:ext cx="2954022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11"/>
          <p:cNvSpPr txBox="1"/>
          <p:nvPr/>
        </p:nvSpPr>
        <p:spPr>
          <a:xfrm>
            <a:off x="4784064" y="4036775"/>
            <a:ext cx="2700944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Condition remains True</a:t>
            </a:r>
          </a:p>
        </p:txBody>
      </p:sp>
      <p:sp>
        <p:nvSpPr>
          <p:cNvPr id="302" name="Chevron 12"/>
          <p:cNvSpPr/>
          <p:nvPr/>
        </p:nvSpPr>
        <p:spPr>
          <a:xfrm>
            <a:off x="7805347" y="4055064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ounded Rectangle 13"/>
          <p:cNvSpPr/>
          <p:nvPr/>
        </p:nvSpPr>
        <p:spPr>
          <a:xfrm>
            <a:off x="8079667" y="3872184"/>
            <a:ext cx="164592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4"/>
          <p:cNvSpPr txBox="1"/>
          <p:nvPr/>
        </p:nvSpPr>
        <p:spPr>
          <a:xfrm>
            <a:off x="8469681" y="4036775"/>
            <a:ext cx="86589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305" name="Rounded Rectangle 15"/>
          <p:cNvSpPr/>
          <p:nvPr/>
        </p:nvSpPr>
        <p:spPr>
          <a:xfrm>
            <a:off x="2784783" y="4890134"/>
            <a:ext cx="164592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16"/>
          <p:cNvSpPr txBox="1"/>
          <p:nvPr/>
        </p:nvSpPr>
        <p:spPr>
          <a:xfrm>
            <a:off x="3393512" y="5054727"/>
            <a:ext cx="428462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for</a:t>
            </a:r>
          </a:p>
        </p:txBody>
      </p:sp>
      <p:sp>
        <p:nvSpPr>
          <p:cNvPr id="307" name="Chevron 17"/>
          <p:cNvSpPr/>
          <p:nvPr/>
        </p:nvSpPr>
        <p:spPr>
          <a:xfrm>
            <a:off x="4503855" y="5073015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Rounded Rectangle 18"/>
          <p:cNvSpPr/>
          <p:nvPr/>
        </p:nvSpPr>
        <p:spPr>
          <a:xfrm>
            <a:off x="4778174" y="4890134"/>
            <a:ext cx="2954023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19"/>
          <p:cNvSpPr txBox="1"/>
          <p:nvPr/>
        </p:nvSpPr>
        <p:spPr>
          <a:xfrm>
            <a:off x="4828274" y="5023800"/>
            <a:ext cx="2750057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Known sequence / range</a:t>
            </a:r>
          </a:p>
        </p:txBody>
      </p:sp>
      <p:sp>
        <p:nvSpPr>
          <p:cNvPr id="310" name="Chevron 20"/>
          <p:cNvSpPr/>
          <p:nvPr/>
        </p:nvSpPr>
        <p:spPr>
          <a:xfrm>
            <a:off x="7805346" y="5073015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ounded Rectangle 21"/>
          <p:cNvSpPr/>
          <p:nvPr/>
        </p:nvSpPr>
        <p:spPr>
          <a:xfrm>
            <a:off x="8079667" y="4890134"/>
            <a:ext cx="164592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22"/>
          <p:cNvSpPr txBox="1"/>
          <p:nvPr/>
        </p:nvSpPr>
        <p:spPr>
          <a:xfrm>
            <a:off x="8469681" y="5054727"/>
            <a:ext cx="86589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313" name="TextBox 28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18" name="TextBox 4"/>
          <p:cNvSpPr txBox="1"/>
          <p:nvPr/>
        </p:nvSpPr>
        <p:spPr>
          <a:xfrm>
            <a:off x="548639" y="566927"/>
            <a:ext cx="2257145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while loop</a:t>
            </a:r>
          </a:p>
        </p:txBody>
      </p:sp>
      <p:sp>
        <p:nvSpPr>
          <p:cNvPr id="319" name="TextBox 5"/>
          <p:cNvSpPr txBox="1"/>
          <p:nvPr/>
        </p:nvSpPr>
        <p:spPr>
          <a:xfrm>
            <a:off x="576071" y="1069847"/>
            <a:ext cx="537439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loop body runs as long as the condition is True.</a:t>
            </a:r>
          </a:p>
        </p:txBody>
      </p:sp>
      <p:sp>
        <p:nvSpPr>
          <p:cNvPr id="320" name="Rectangle 6"/>
          <p:cNvSpPr/>
          <p:nvPr/>
        </p:nvSpPr>
        <p:spPr>
          <a:xfrm>
            <a:off x="594359" y="1508760"/>
            <a:ext cx="5486401" cy="384048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7"/>
          <p:cNvSpPr txBox="1"/>
          <p:nvPr/>
        </p:nvSpPr>
        <p:spPr>
          <a:xfrm>
            <a:off x="786384" y="1581911"/>
            <a:ext cx="1949126" cy="213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A0BEC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Listing 2.11 — value table using while</a:t>
            </a:r>
          </a:p>
        </p:txBody>
      </p:sp>
      <p:sp>
        <p:nvSpPr>
          <p:cNvPr id="322" name="TextBox 8"/>
          <p:cNvSpPr txBox="1"/>
          <p:nvPr/>
        </p:nvSpPr>
        <p:spPr>
          <a:xfrm>
            <a:off x="749808" y="1883663"/>
            <a:ext cx="1505571" cy="2618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f(x):</a:t>
            </a:r>
            <a:br/>
            <a:r>
              <a:t>    return x**2</a:t>
            </a:r>
            <a:br/>
            <a:br/>
            <a:r>
              <a:t>x = 1</a:t>
            </a:r>
            <a:br/>
            <a:br/>
            <a:r>
              <a:t>while x &lt;= 10:</a:t>
            </a:r>
            <a:br/>
            <a:r>
              <a:t>    y = f(x)</a:t>
            </a:r>
            <a:br/>
            <a:r>
              <a:t>    print(x, y)</a:t>
            </a:r>
            <a:br/>
            <a:r>
              <a:t>    x += 1</a:t>
            </a:r>
          </a:p>
        </p:txBody>
      </p:sp>
      <p:sp>
        <p:nvSpPr>
          <p:cNvPr id="323" name="Rounded Rectangle 9"/>
          <p:cNvSpPr/>
          <p:nvPr/>
        </p:nvSpPr>
        <p:spPr>
          <a:xfrm>
            <a:off x="6537959" y="1737360"/>
            <a:ext cx="11430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10"/>
          <p:cNvSpPr txBox="1"/>
          <p:nvPr/>
        </p:nvSpPr>
        <p:spPr>
          <a:xfrm>
            <a:off x="6886526" y="1901951"/>
            <a:ext cx="445869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x = 1</a:t>
            </a:r>
          </a:p>
        </p:txBody>
      </p:sp>
      <p:sp>
        <p:nvSpPr>
          <p:cNvPr id="325" name="Chevron 11"/>
          <p:cNvSpPr/>
          <p:nvPr/>
        </p:nvSpPr>
        <p:spPr>
          <a:xfrm>
            <a:off x="7754111" y="192023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ounded Rectangle 12"/>
          <p:cNvSpPr/>
          <p:nvPr/>
        </p:nvSpPr>
        <p:spPr>
          <a:xfrm>
            <a:off x="8001000" y="1737360"/>
            <a:ext cx="114300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13"/>
          <p:cNvSpPr txBox="1"/>
          <p:nvPr/>
        </p:nvSpPr>
        <p:spPr>
          <a:xfrm>
            <a:off x="8268749" y="1901951"/>
            <a:ext cx="607502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x ≤ 10?</a:t>
            </a:r>
          </a:p>
        </p:txBody>
      </p:sp>
      <p:sp>
        <p:nvSpPr>
          <p:cNvPr id="328" name="Chevron 14"/>
          <p:cNvSpPr/>
          <p:nvPr/>
        </p:nvSpPr>
        <p:spPr>
          <a:xfrm>
            <a:off x="9217152" y="192023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Rounded Rectangle 15"/>
          <p:cNvSpPr/>
          <p:nvPr/>
        </p:nvSpPr>
        <p:spPr>
          <a:xfrm>
            <a:off x="9464040" y="1737360"/>
            <a:ext cx="11430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16"/>
          <p:cNvSpPr txBox="1"/>
          <p:nvPr/>
        </p:nvSpPr>
        <p:spPr>
          <a:xfrm>
            <a:off x="9513483" y="1901951"/>
            <a:ext cx="1044114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Compute f(x)</a:t>
            </a:r>
          </a:p>
        </p:txBody>
      </p:sp>
      <p:sp>
        <p:nvSpPr>
          <p:cNvPr id="331" name="Chevron 17"/>
          <p:cNvSpPr/>
          <p:nvPr/>
        </p:nvSpPr>
        <p:spPr>
          <a:xfrm>
            <a:off x="10680192" y="192023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Rounded Rectangle 18"/>
          <p:cNvSpPr/>
          <p:nvPr/>
        </p:nvSpPr>
        <p:spPr>
          <a:xfrm>
            <a:off x="10927080" y="1737360"/>
            <a:ext cx="114300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9"/>
          <p:cNvSpPr txBox="1"/>
          <p:nvPr/>
        </p:nvSpPr>
        <p:spPr>
          <a:xfrm>
            <a:off x="11228607" y="1901951"/>
            <a:ext cx="539947" cy="287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x += 1</a:t>
            </a:r>
          </a:p>
        </p:txBody>
      </p:sp>
      <p:sp>
        <p:nvSpPr>
          <p:cNvPr id="334" name="TextBox 20"/>
          <p:cNvSpPr txBox="1"/>
          <p:nvPr/>
        </p:nvSpPr>
        <p:spPr>
          <a:xfrm>
            <a:off x="6537959" y="3004820"/>
            <a:ext cx="4800601" cy="2681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is initialized before the loop.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condition x &lt;= 10 is checked before each pass.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body computes and prints the current value.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+= 1 changes the state so that the loop eventually terminates.</a:t>
            </a:r>
          </a:p>
        </p:txBody>
      </p:sp>
      <p:sp>
        <p:nvSpPr>
          <p:cNvPr id="335" name="TextBox 26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36" name="Line"/>
          <p:cNvSpPr/>
          <p:nvPr/>
        </p:nvSpPr>
        <p:spPr>
          <a:xfrm>
            <a:off x="8510444" y="2392802"/>
            <a:ext cx="3007841" cy="5038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74" fill="norm" stroke="1" extrusionOk="0">
                <a:moveTo>
                  <a:pt x="21600" y="1679"/>
                </a:moveTo>
                <a:cubicBezTo>
                  <a:pt x="18544" y="14291"/>
                  <a:pt x="14914" y="21154"/>
                  <a:pt x="11186" y="21368"/>
                </a:cubicBezTo>
                <a:cubicBezTo>
                  <a:pt x="7163" y="21600"/>
                  <a:pt x="3238" y="14100"/>
                  <a:pt x="0" y="0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41" name="TextBox 4"/>
          <p:cNvSpPr txBox="1"/>
          <p:nvPr/>
        </p:nvSpPr>
        <p:spPr>
          <a:xfrm>
            <a:off x="548639" y="566927"/>
            <a:ext cx="6448294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Why the while loop must change something</a:t>
            </a:r>
          </a:p>
        </p:txBody>
      </p:sp>
      <p:sp>
        <p:nvSpPr>
          <p:cNvPr id="342" name="TextBox 5"/>
          <p:cNvSpPr txBox="1"/>
          <p:nvPr/>
        </p:nvSpPr>
        <p:spPr>
          <a:xfrm>
            <a:off x="576071" y="1069847"/>
            <a:ext cx="802514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condition and the changing variable work together to control termination.</a:t>
            </a:r>
          </a:p>
        </p:txBody>
      </p:sp>
      <p:sp>
        <p:nvSpPr>
          <p:cNvPr id="343" name="Rectangle 6"/>
          <p:cNvSpPr/>
          <p:nvPr/>
        </p:nvSpPr>
        <p:spPr>
          <a:xfrm>
            <a:off x="731519" y="1600200"/>
            <a:ext cx="4572001" cy="242316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7"/>
          <p:cNvSpPr txBox="1"/>
          <p:nvPr/>
        </p:nvSpPr>
        <p:spPr>
          <a:xfrm>
            <a:off x="923544" y="1673351"/>
            <a:ext cx="2813185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A0BEC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Normal terminating loop</a:t>
            </a:r>
          </a:p>
        </p:txBody>
      </p:sp>
      <p:sp>
        <p:nvSpPr>
          <p:cNvPr id="345" name="TextBox 8"/>
          <p:cNvSpPr txBox="1"/>
          <p:nvPr/>
        </p:nvSpPr>
        <p:spPr>
          <a:xfrm>
            <a:off x="886967" y="1975104"/>
            <a:ext cx="1505572" cy="1449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= 1</a:t>
            </a:r>
            <a:br/>
            <a:br/>
            <a:r>
              <a:t>while x &lt;= 10:</a:t>
            </a:r>
            <a:br/>
            <a:r>
              <a:t>    print(x)</a:t>
            </a:r>
            <a:br/>
            <a:r>
              <a:t>    x += 1</a:t>
            </a:r>
          </a:p>
        </p:txBody>
      </p:sp>
      <p:sp>
        <p:nvSpPr>
          <p:cNvPr id="346" name="Rectangle 9"/>
          <p:cNvSpPr/>
          <p:nvPr/>
        </p:nvSpPr>
        <p:spPr>
          <a:xfrm>
            <a:off x="6400800" y="1600200"/>
            <a:ext cx="4572000" cy="242316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10"/>
          <p:cNvSpPr txBox="1"/>
          <p:nvPr/>
        </p:nvSpPr>
        <p:spPr>
          <a:xfrm>
            <a:off x="6592823" y="1673351"/>
            <a:ext cx="3370919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A0BEC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Problem: condition stays True</a:t>
            </a:r>
          </a:p>
        </p:txBody>
      </p:sp>
      <p:sp>
        <p:nvSpPr>
          <p:cNvPr id="348" name="TextBox 11"/>
          <p:cNvSpPr txBox="1"/>
          <p:nvPr/>
        </p:nvSpPr>
        <p:spPr>
          <a:xfrm>
            <a:off x="6556247" y="1975104"/>
            <a:ext cx="2093319" cy="1449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= 1</a:t>
            </a:r>
            <a:br/>
            <a:br/>
            <a:r>
              <a:t>while x &lt;= 10:</a:t>
            </a:r>
            <a:br/>
            <a:r>
              <a:t>    print(x)</a:t>
            </a:r>
            <a:br/>
            <a:r>
              <a:t>    # x never changes</a:t>
            </a:r>
          </a:p>
        </p:txBody>
      </p:sp>
      <p:sp>
        <p:nvSpPr>
          <p:cNvPr id="349" name="TextBox 12"/>
          <p:cNvSpPr txBox="1"/>
          <p:nvPr/>
        </p:nvSpPr>
        <p:spPr>
          <a:xfrm>
            <a:off x="914399" y="4480560"/>
            <a:ext cx="10149842" cy="1043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while loop needs a condition that can eventually become False.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book's value-table example, x += 1 changes x on every pass.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x never changes and starts at a value satisfying the condition, the loop can continue indefinitely.</a:t>
            </a:r>
          </a:p>
        </p:txBody>
      </p:sp>
      <p:sp>
        <p:nvSpPr>
          <p:cNvPr id="350" name="TextBox 14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55" name="TextBox 4"/>
          <p:cNvSpPr txBox="1"/>
          <p:nvPr/>
        </p:nvSpPr>
        <p:spPr>
          <a:xfrm>
            <a:off x="548639" y="566927"/>
            <a:ext cx="6846111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while + break: stop when a special case occurs</a:t>
            </a:r>
          </a:p>
        </p:txBody>
      </p:sp>
      <p:sp>
        <p:nvSpPr>
          <p:cNvPr id="356" name="TextBox 5"/>
          <p:cNvSpPr txBox="1"/>
          <p:nvPr/>
        </p:nvSpPr>
        <p:spPr>
          <a:xfrm>
            <a:off x="576071" y="1069847"/>
            <a:ext cx="808145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Use break to abort a loop when continuing the numerical calculation is unsafe.</a:t>
            </a:r>
          </a:p>
        </p:txBody>
      </p:sp>
      <p:sp>
        <p:nvSpPr>
          <p:cNvPr id="357" name="Rectangle 6"/>
          <p:cNvSpPr/>
          <p:nvPr/>
        </p:nvSpPr>
        <p:spPr>
          <a:xfrm>
            <a:off x="594359" y="1508760"/>
            <a:ext cx="6400801" cy="306324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8"/>
          <p:cNvSpPr txBox="1"/>
          <p:nvPr/>
        </p:nvSpPr>
        <p:spPr>
          <a:xfrm>
            <a:off x="749808" y="1883662"/>
            <a:ext cx="3819228" cy="174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while abs(x2 - x1) &gt; eps and n &lt; 100:</a:t>
            </a:r>
            <a:br/>
            <a:r>
              <a:t>    n += 1</a:t>
            </a:r>
            <a:br/>
            <a:r>
              <a:t>    ...</a:t>
            </a:r>
            <a:br/>
            <a:r>
              <a:t>    if abs(f1 - f0) &lt; eps:</a:t>
            </a:r>
            <a:br/>
            <a:r>
              <a:t>        break</a:t>
            </a:r>
            <a:br/>
            <a:r>
              <a:t>    x2 = x1 - f1 * (x1 - x0) / (f1 - f0)</a:t>
            </a:r>
          </a:p>
        </p:txBody>
      </p:sp>
      <p:sp>
        <p:nvSpPr>
          <p:cNvPr id="359" name="TextBox 9"/>
          <p:cNvSpPr txBox="1"/>
          <p:nvPr/>
        </p:nvSpPr>
        <p:spPr>
          <a:xfrm>
            <a:off x="7269480" y="1645920"/>
            <a:ext cx="4686649" cy="2592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denominator in a numerical calculation can become zero or very small.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break immediately aborts the loop.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example uses an additional termination condition based on a small tolerance eps.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computed zero converges to approximately 0.7390851332 for x − cos(x) = 0.</a:t>
            </a:r>
          </a:p>
        </p:txBody>
      </p:sp>
      <p:sp>
        <p:nvSpPr>
          <p:cNvPr id="360" name="Rectangle 10"/>
          <p:cNvSpPr/>
          <p:nvPr/>
        </p:nvSpPr>
        <p:spPr>
          <a:xfrm>
            <a:off x="731519" y="4892040"/>
            <a:ext cx="10698482" cy="777241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Rectangle 11"/>
          <p:cNvSpPr/>
          <p:nvPr/>
        </p:nvSpPr>
        <p:spPr>
          <a:xfrm>
            <a:off x="731519" y="4892040"/>
            <a:ext cx="54865" cy="777241"/>
          </a:xfrm>
          <a:prstGeom prst="rect">
            <a:avLst/>
          </a:prstGeom>
          <a:solidFill>
            <a:srgbClr val="A541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2"/>
          <p:cNvSpPr txBox="1"/>
          <p:nvPr/>
        </p:nvSpPr>
        <p:spPr>
          <a:xfrm>
            <a:off x="932688" y="4974335"/>
            <a:ext cx="3173225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Engineering/scientific lesson</a:t>
            </a:r>
          </a:p>
        </p:txBody>
      </p:sp>
      <p:sp>
        <p:nvSpPr>
          <p:cNvPr id="363" name="TextBox 13"/>
          <p:cNvSpPr txBox="1"/>
          <p:nvPr/>
        </p:nvSpPr>
        <p:spPr>
          <a:xfrm>
            <a:off x="932688" y="5294376"/>
            <a:ext cx="10351008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Numerical loops often need both a normal stopping condition and a safety/accuracy condition.</a:t>
            </a:r>
          </a:p>
        </p:txBody>
      </p:sp>
      <p:sp>
        <p:nvSpPr>
          <p:cNvPr id="364" name="TextBox 15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69" name="TextBox 4"/>
          <p:cNvSpPr txBox="1"/>
          <p:nvPr/>
        </p:nvSpPr>
        <p:spPr>
          <a:xfrm>
            <a:off x="548639" y="566927"/>
            <a:ext cx="1907715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for loop</a:t>
            </a:r>
          </a:p>
        </p:txBody>
      </p:sp>
      <p:sp>
        <p:nvSpPr>
          <p:cNvPr id="370" name="TextBox 5"/>
          <p:cNvSpPr txBox="1"/>
          <p:nvPr/>
        </p:nvSpPr>
        <p:spPr>
          <a:xfrm>
            <a:off x="576071" y="1069847"/>
            <a:ext cx="979595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Use a for loop when the number of loop passes is known in advance or is driven by a sequence.</a:t>
            </a:r>
          </a:p>
        </p:txBody>
      </p:sp>
      <p:sp>
        <p:nvSpPr>
          <p:cNvPr id="371" name="Rectangle 6"/>
          <p:cNvSpPr/>
          <p:nvPr/>
        </p:nvSpPr>
        <p:spPr>
          <a:xfrm>
            <a:off x="685800" y="1554480"/>
            <a:ext cx="4754880" cy="146304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8"/>
          <p:cNvSpPr txBox="1"/>
          <p:nvPr/>
        </p:nvSpPr>
        <p:spPr>
          <a:xfrm>
            <a:off x="841248" y="1929384"/>
            <a:ext cx="3095179" cy="573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i in range(start, stop, step):</a:t>
            </a:r>
            <a:br/>
            <a:r>
              <a:t>    statements</a:t>
            </a:r>
          </a:p>
        </p:txBody>
      </p:sp>
      <p:sp>
        <p:nvSpPr>
          <p:cNvPr id="373" name="TextBox 9"/>
          <p:cNvSpPr txBox="1"/>
          <p:nvPr/>
        </p:nvSpPr>
        <p:spPr>
          <a:xfrm>
            <a:off x="5897879" y="1600200"/>
            <a:ext cx="6075710" cy="2097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loop is  a counter-driven loop.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loop variable i is an integer in the examples.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range() determines the start, end and increment.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range(n) produces the sequence 0 through n − 1.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loop header ends with a colon and the body is indented.</a:t>
            </a:r>
          </a:p>
        </p:txBody>
      </p:sp>
      <p:sp>
        <p:nvSpPr>
          <p:cNvPr id="374" name="Rectangle 10"/>
          <p:cNvSpPr/>
          <p:nvPr/>
        </p:nvSpPr>
        <p:spPr>
          <a:xfrm>
            <a:off x="685800" y="3429000"/>
            <a:ext cx="4754880" cy="1417320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12"/>
          <p:cNvSpPr txBox="1"/>
          <p:nvPr/>
        </p:nvSpPr>
        <p:spPr>
          <a:xfrm>
            <a:off x="841248" y="3803904"/>
            <a:ext cx="1894012" cy="573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i in range(10):</a:t>
            </a:r>
            <a:br/>
            <a:r>
              <a:t>    print(i, end=" ")</a:t>
            </a:r>
          </a:p>
        </p:txBody>
      </p:sp>
      <p:sp>
        <p:nvSpPr>
          <p:cNvPr id="376" name="Rectangle 13"/>
          <p:cNvSpPr/>
          <p:nvPr/>
        </p:nvSpPr>
        <p:spPr>
          <a:xfrm>
            <a:off x="685800" y="5074920"/>
            <a:ext cx="4754880" cy="685801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Rectangle 14"/>
          <p:cNvSpPr/>
          <p:nvPr/>
        </p:nvSpPr>
        <p:spPr>
          <a:xfrm>
            <a:off x="685800" y="5074920"/>
            <a:ext cx="54864" cy="685801"/>
          </a:xfrm>
          <a:prstGeom prst="rect">
            <a:avLst/>
          </a:prstGeom>
          <a:solidFill>
            <a:srgbClr val="3B7D5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TextBox 15"/>
          <p:cNvSpPr txBox="1"/>
          <p:nvPr/>
        </p:nvSpPr>
        <p:spPr>
          <a:xfrm>
            <a:off x="886968" y="5157215"/>
            <a:ext cx="89466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79" name="TextBox 16"/>
          <p:cNvSpPr txBox="1"/>
          <p:nvPr/>
        </p:nvSpPr>
        <p:spPr>
          <a:xfrm>
            <a:off x="886968" y="5439155"/>
            <a:ext cx="4407408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0 1 2 3 4 5 6 7 8 9</a:t>
            </a:r>
          </a:p>
        </p:txBody>
      </p:sp>
      <p:sp>
        <p:nvSpPr>
          <p:cNvPr id="380" name="TextBox 22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85" name="TextBox 4"/>
          <p:cNvSpPr txBox="1"/>
          <p:nvPr/>
        </p:nvSpPr>
        <p:spPr>
          <a:xfrm>
            <a:off x="548639" y="566927"/>
            <a:ext cx="8030355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for loop example: generate a mathematical value table</a:t>
            </a:r>
          </a:p>
        </p:txBody>
      </p:sp>
      <p:sp>
        <p:nvSpPr>
          <p:cNvPr id="386" name="Rectangle 6"/>
          <p:cNvSpPr/>
          <p:nvPr/>
        </p:nvSpPr>
        <p:spPr>
          <a:xfrm>
            <a:off x="594359" y="1508760"/>
            <a:ext cx="5852162" cy="2971801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TextBox 8"/>
          <p:cNvSpPr txBox="1"/>
          <p:nvPr/>
        </p:nvSpPr>
        <p:spPr>
          <a:xfrm>
            <a:off x="749807" y="1883663"/>
            <a:ext cx="3098032" cy="203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 f(x):</a:t>
            </a:r>
            <a:br/>
            <a:r>
              <a:t>    return x**2</a:t>
            </a:r>
            <a:br/>
            <a:br/>
            <a:r>
              <a:t>print(" x\ty")</a:t>
            </a:r>
            <a:br/>
            <a:r>
              <a:t>for x in range(11):</a:t>
            </a:r>
            <a:br/>
            <a:r>
              <a:t>    y = f(x)</a:t>
            </a:r>
            <a:br/>
            <a:r>
              <a:t>    print("%2i %6.3f" % (x, y))</a:t>
            </a:r>
          </a:p>
        </p:txBody>
      </p:sp>
      <p:sp>
        <p:nvSpPr>
          <p:cNvPr id="388" name="Rectangle 9"/>
          <p:cNvSpPr/>
          <p:nvPr/>
        </p:nvSpPr>
        <p:spPr>
          <a:xfrm>
            <a:off x="594359" y="4709159"/>
            <a:ext cx="5852162" cy="2024386"/>
          </a:xfrm>
          <a:prstGeom prst="rect">
            <a:avLst/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11"/>
          <p:cNvSpPr txBox="1"/>
          <p:nvPr/>
        </p:nvSpPr>
        <p:spPr>
          <a:xfrm>
            <a:off x="795527" y="4791455"/>
            <a:ext cx="736562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90" name="TextBox 12"/>
          <p:cNvSpPr txBox="1"/>
          <p:nvPr/>
        </p:nvSpPr>
        <p:spPr>
          <a:xfrm>
            <a:off x="795527" y="5111496"/>
            <a:ext cx="5504689" cy="1594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  y</a:t>
            </a:r>
            <a:br/>
            <a:r>
              <a:t>0   0.000</a:t>
            </a:r>
            <a:br/>
            <a:r>
              <a:t>1   1.000</a:t>
            </a:r>
            <a:br/>
            <a:r>
              <a:t>2   4.000</a:t>
            </a:r>
            <a:br/>
            <a:r>
              <a:t>...</a:t>
            </a:r>
            <a:br/>
            <a:r>
              <a:t>9   81.000</a:t>
            </a:r>
            <a:br/>
            <a:r>
              <a:t>10  100.000</a:t>
            </a:r>
          </a:p>
        </p:txBody>
      </p:sp>
      <p:sp>
        <p:nvSpPr>
          <p:cNvPr id="391" name="TextBox 13"/>
          <p:cNvSpPr txBox="1"/>
          <p:nvPr/>
        </p:nvSpPr>
        <p:spPr>
          <a:xfrm>
            <a:off x="6812280" y="1737360"/>
            <a:ext cx="5090339" cy="171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range(11) gives x = 0, 1, ..., 10.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pass calls f(x) with the current x.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body is executed 11 times.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Changing the function definition allows the same loop structure to generate another value table.</a:t>
            </a:r>
          </a:p>
        </p:txBody>
      </p:sp>
      <p:sp>
        <p:nvSpPr>
          <p:cNvPr id="392" name="TextBox 15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397" name="TextBox 4"/>
          <p:cNvSpPr txBox="1"/>
          <p:nvPr/>
        </p:nvSpPr>
        <p:spPr>
          <a:xfrm>
            <a:off x="548639" y="566927"/>
            <a:ext cx="8361200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for loop with a smaller increment: numerical integration</a:t>
            </a:r>
          </a:p>
        </p:txBody>
      </p:sp>
      <p:sp>
        <p:nvSpPr>
          <p:cNvPr id="398" name="Rectangle 6"/>
          <p:cNvSpPr/>
          <p:nvPr/>
        </p:nvSpPr>
        <p:spPr>
          <a:xfrm>
            <a:off x="502919" y="1371600"/>
            <a:ext cx="6629401" cy="5120518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TextBox 8"/>
          <p:cNvSpPr txBox="1"/>
          <p:nvPr/>
        </p:nvSpPr>
        <p:spPr>
          <a:xfrm>
            <a:off x="658368" y="1746504"/>
            <a:ext cx="2405981" cy="437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 math</a:t>
            </a:r>
            <a:br/>
            <a:br/>
            <a:r>
              <a:t>def f(x):</a:t>
            </a:r>
            <a:br/>
            <a:r>
              <a:t>    return math.exp(x)</a:t>
            </a:r>
            <a:br/>
            <a:br/>
            <a:r>
              <a:t>a = 0</a:t>
            </a:r>
            <a:br/>
            <a:r>
              <a:t>b = 1</a:t>
            </a:r>
            <a:br/>
            <a:r>
              <a:t>n = 1000</a:t>
            </a:r>
            <a:br/>
            <a:r>
              <a:t>delta_x = (b - a) / n</a:t>
            </a:r>
            <a:br/>
            <a:r>
              <a:t>r = 0</a:t>
            </a:r>
            <a:br/>
            <a:r>
              <a:t>x = a</a:t>
            </a:r>
            <a:br/>
            <a:br/>
            <a:r>
              <a:t>for k in range(1, n + 1):</a:t>
            </a:r>
            <a:br/>
            <a:r>
              <a:t>    r = r + f(x) * delta_x</a:t>
            </a:r>
            <a:br/>
            <a:r>
              <a:t>    x = a + k * delta_x</a:t>
            </a:r>
          </a:p>
        </p:txBody>
      </p:sp>
      <p:sp>
        <p:nvSpPr>
          <p:cNvPr id="400" name="TextBox 9"/>
          <p:cNvSpPr txBox="1"/>
          <p:nvPr/>
        </p:nvSpPr>
        <p:spPr>
          <a:xfrm>
            <a:off x="7406640" y="1645920"/>
            <a:ext cx="4548286" cy="29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interval [a, b] is divided into n small rectangles.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delta_x is the width of each rectangle.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pass adds f(x) × delta_x to the accumulated result r.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loop runs 1,000 times in the book's example.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calculated result is approximately 1.71842, close to the exact value e^ − 1.</a:t>
            </a:r>
          </a:p>
        </p:txBody>
      </p:sp>
      <p:sp>
        <p:nvSpPr>
          <p:cNvPr id="401" name="TextBox 11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Rectangle 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3"/>
          <p:cNvSpPr txBox="1"/>
          <p:nvPr/>
        </p:nvSpPr>
        <p:spPr>
          <a:xfrm>
            <a:off x="521207" y="201168"/>
            <a:ext cx="648604" cy="225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000">
                <a:solidFill>
                  <a:srgbClr val="235D9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Chapter 2</a:t>
            </a:r>
          </a:p>
        </p:txBody>
      </p:sp>
      <p:sp>
        <p:nvSpPr>
          <p:cNvPr id="406" name="TextBox 4"/>
          <p:cNvSpPr txBox="1"/>
          <p:nvPr/>
        </p:nvSpPr>
        <p:spPr>
          <a:xfrm>
            <a:off x="548639" y="566927"/>
            <a:ext cx="8267439" cy="47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same loop idea appears in engineering computation</a:t>
            </a:r>
          </a:p>
        </p:txBody>
      </p:sp>
      <p:sp>
        <p:nvSpPr>
          <p:cNvPr id="407" name="Rounded Rectangle 6"/>
          <p:cNvSpPr/>
          <p:nvPr/>
        </p:nvSpPr>
        <p:spPr>
          <a:xfrm>
            <a:off x="594359" y="1600200"/>
            <a:ext cx="237744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TextBox 7"/>
          <p:cNvSpPr txBox="1"/>
          <p:nvPr/>
        </p:nvSpPr>
        <p:spPr>
          <a:xfrm>
            <a:off x="1205962" y="1764792"/>
            <a:ext cx="1154235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Divide interval</a:t>
            </a:r>
          </a:p>
        </p:txBody>
      </p:sp>
      <p:sp>
        <p:nvSpPr>
          <p:cNvPr id="409" name="Chevron 8"/>
          <p:cNvSpPr/>
          <p:nvPr/>
        </p:nvSpPr>
        <p:spPr>
          <a:xfrm>
            <a:off x="3044951" y="17830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ounded Rectangle 9"/>
          <p:cNvSpPr/>
          <p:nvPr/>
        </p:nvSpPr>
        <p:spPr>
          <a:xfrm>
            <a:off x="3383279" y="1600200"/>
            <a:ext cx="237744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10"/>
          <p:cNvSpPr txBox="1"/>
          <p:nvPr/>
        </p:nvSpPr>
        <p:spPr>
          <a:xfrm>
            <a:off x="4063688" y="1764792"/>
            <a:ext cx="1016624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Evaluate f(x)</a:t>
            </a:r>
          </a:p>
        </p:txBody>
      </p:sp>
      <p:sp>
        <p:nvSpPr>
          <p:cNvPr id="412" name="Chevron 11"/>
          <p:cNvSpPr/>
          <p:nvPr/>
        </p:nvSpPr>
        <p:spPr>
          <a:xfrm>
            <a:off x="5833871" y="17830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Rounded Rectangle 12"/>
          <p:cNvSpPr/>
          <p:nvPr/>
        </p:nvSpPr>
        <p:spPr>
          <a:xfrm>
            <a:off x="6172200" y="1600200"/>
            <a:ext cx="2377440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13"/>
          <p:cNvSpPr txBox="1"/>
          <p:nvPr/>
        </p:nvSpPr>
        <p:spPr>
          <a:xfrm>
            <a:off x="6637848" y="1764792"/>
            <a:ext cx="1446143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Add rectangle area</a:t>
            </a:r>
          </a:p>
        </p:txBody>
      </p:sp>
      <p:sp>
        <p:nvSpPr>
          <p:cNvPr id="415" name="Chevron 14"/>
          <p:cNvSpPr/>
          <p:nvPr/>
        </p:nvSpPr>
        <p:spPr>
          <a:xfrm>
            <a:off x="8622792" y="1783079"/>
            <a:ext cx="256033" cy="274321"/>
          </a:xfrm>
          <a:prstGeom prst="chevron">
            <a:avLst>
              <a:gd name="adj" fmla="val 50000"/>
            </a:avLst>
          </a:prstGeom>
          <a:solidFill>
            <a:srgbClr val="2B9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Rounded Rectangle 15"/>
          <p:cNvSpPr/>
          <p:nvPr/>
        </p:nvSpPr>
        <p:spPr>
          <a:xfrm>
            <a:off x="8961119" y="1600200"/>
            <a:ext cx="2377441" cy="658369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D5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TextBox 16"/>
          <p:cNvSpPr txBox="1"/>
          <p:nvPr/>
        </p:nvSpPr>
        <p:spPr>
          <a:xfrm>
            <a:off x="9577398" y="1764792"/>
            <a:ext cx="1144884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0D22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Move to next x</a:t>
            </a:r>
          </a:p>
        </p:txBody>
      </p:sp>
      <p:sp>
        <p:nvSpPr>
          <p:cNvPr id="418" name="TextBox 17"/>
          <p:cNvSpPr txBox="1"/>
          <p:nvPr/>
        </p:nvSpPr>
        <p:spPr>
          <a:xfrm>
            <a:off x="731519" y="2834640"/>
            <a:ext cx="6362146" cy="191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loop is not only a programming exercise; it implements a computational algorithm.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rectangle-sum integration, every loop pass represents one small numerical calculation.</a:t>
            </a:r>
          </a:p>
          <a:p>
            <a:pPr>
              <a:spcBef>
                <a:spcPts val="700"/>
              </a:spcBef>
              <a:defRPr sz="2000">
                <a:solidFill>
                  <a:srgbClr val="2A31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Increasing the number of subintervals changes the approximation and its computational cost.</a:t>
            </a:r>
          </a:p>
        </p:txBody>
      </p:sp>
      <p:sp>
        <p:nvSpPr>
          <p:cNvPr id="419" name="Rectangle 18"/>
          <p:cNvSpPr/>
          <p:nvPr/>
        </p:nvSpPr>
        <p:spPr>
          <a:xfrm>
            <a:off x="7178040" y="2834639"/>
            <a:ext cx="4206241" cy="1645922"/>
          </a:xfrm>
          <a:prstGeom prst="rect">
            <a:avLst/>
          </a:prstGeom>
          <a:solidFill>
            <a:srgbClr val="1D232A"/>
          </a:solidFill>
          <a:ln>
            <a:solidFill>
              <a:srgbClr val="41495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20"/>
          <p:cNvSpPr txBox="1"/>
          <p:nvPr/>
        </p:nvSpPr>
        <p:spPr>
          <a:xfrm>
            <a:off x="7333488" y="3209544"/>
            <a:ext cx="2405981" cy="865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EDF1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k in range(1, n + 1):</a:t>
            </a:r>
            <a:br/>
            <a:r>
              <a:t>    r = r + f(x) * delta_x</a:t>
            </a:r>
            <a:br/>
            <a:r>
              <a:t>    x = a + k * delta_x</a:t>
            </a:r>
          </a:p>
        </p:txBody>
      </p:sp>
      <p:sp>
        <p:nvSpPr>
          <p:cNvPr id="421" name="TextBox 26"/>
          <p:cNvSpPr txBox="1"/>
          <p:nvPr/>
        </p:nvSpPr>
        <p:spPr>
          <a:xfrm>
            <a:off x="11485880" y="164592"/>
            <a:ext cx="218441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973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