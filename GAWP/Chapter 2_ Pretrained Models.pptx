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257" r:id="rId3"/>
    <p:sldId id="303" r:id="rId4"/>
    <p:sldId id="30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BC00-1998-003B-53DA-AF23B859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1E65A6-A430-AA62-BDC2-51CB023F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5CD32-5068-6BEA-6870-3D94B71D7815}"/>
              </a:ext>
            </a:extLst>
          </p:cNvPr>
          <p:cNvSpPr txBox="1"/>
          <p:nvPr/>
        </p:nvSpPr>
        <p:spPr>
          <a:xfrm>
            <a:off x="466725" y="431542"/>
            <a:ext cx="112585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 dirty="0">
                <a:solidFill>
                  <a:schemeClr val="bg1"/>
                </a:solidFill>
                <a:latin typeface="Inter SemiBold"/>
              </a:rPr>
              <a:t>Generative AI with Python | </a:t>
            </a:r>
            <a:r>
              <a:rPr lang="en-IN" sz="1200" b="0" i="0" u="none" dirty="0">
                <a:solidFill>
                  <a:schemeClr val="bg1"/>
                </a:solidFill>
                <a:latin typeface="Inter SemiBold"/>
              </a:rPr>
              <a:t>Bert Gollnick</a:t>
            </a:r>
            <a:endParaRPr sz="1200" b="1" i="0" u="none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2A38C-6388-0E1D-6507-F908DEFF1581}"/>
              </a:ext>
            </a:extLst>
          </p:cNvPr>
          <p:cNvSpPr/>
          <p:nvPr/>
        </p:nvSpPr>
        <p:spPr>
          <a:xfrm>
            <a:off x="466725" y="771525"/>
            <a:ext cx="112585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F0B65E-D626-799D-103F-C108CC459FEF}"/>
              </a:ext>
            </a:extLst>
          </p:cNvPr>
          <p:cNvSpPr/>
          <p:nvPr/>
        </p:nvSpPr>
        <p:spPr>
          <a:xfrm>
            <a:off x="1870433" y="3978068"/>
            <a:ext cx="81463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Dr. Amrutanshu Panigrahi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FC39B8-A9EC-0541-987F-2AD32D1F9110}"/>
              </a:ext>
            </a:extLst>
          </p:cNvPr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CHAPTER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9FB12E-107D-55C0-CF4D-1F4BE64FBBE7}"/>
              </a:ext>
            </a:extLst>
          </p:cNvPr>
          <p:cNvSpPr txBox="1"/>
          <p:nvPr/>
        </p:nvSpPr>
        <p:spPr>
          <a:xfrm>
            <a:off x="929640" y="2240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C4E0F0"/>
                </a:solidFill>
                <a:latin typeface="Aptos"/>
              </a:defRPr>
            </a:pPr>
            <a:r>
              <a:rPr dirty="0"/>
              <a:t>PRETRAINED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AD36C2-E935-BB37-28E0-0964CAAAC1A5}"/>
              </a:ext>
            </a:extLst>
          </p:cNvPr>
          <p:cNvSpPr txBox="1"/>
          <p:nvPr/>
        </p:nvSpPr>
        <p:spPr>
          <a:xfrm>
            <a:off x="1097280" y="3164252"/>
            <a:ext cx="99669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Hugging Face • NLP Tasks • Generative Models</a:t>
            </a:r>
          </a:p>
        </p:txBody>
      </p:sp>
      <p:pic>
        <p:nvPicPr>
          <p:cNvPr id="3" name="Picture 2" descr="Buy Generative AI with Python: The Developer’s Guide to Pretrained LLMs,  Vector Databases, Retrieval Augmented Generation, and Agentic Systems ...">
            <a:extLst>
              <a:ext uri="{FF2B5EF4-FFF2-40B4-BE49-F238E27FC236}">
                <a16:creationId xmlns:a16="http://schemas.microsoft.com/office/drawing/2014/main" id="{931F4FE6-3280-A086-0F62-9CCCAB012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66" y="968359"/>
            <a:ext cx="1878341" cy="25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5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Chapter 2 — 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Conceptual understanding of pretrained, task-specific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Pretrained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Why reuse an existing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Hugging 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7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Find models, datasets and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8600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286000"/>
            <a:ext cx="64008" cy="77724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41401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 Summarization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5292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Condense long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64008" cy="77724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41401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5292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Convert between languages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24612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37413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Zero-Shot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1304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Classify without task-specific training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24612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24612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Fill-Mask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1304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Predict missing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0624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4206240"/>
            <a:ext cx="64008" cy="77724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33425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Question Answering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7316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Answer from context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20624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4206240"/>
            <a:ext cx="64008" cy="77724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33425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77316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Extract named entities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1663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516636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2943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Text-to-Image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3328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Generate images from prompts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1663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516636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52943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Text-to-Audio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73328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Generate music from prompts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514475"/>
            <a:ext cx="5514975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514475"/>
            <a:ext cx="5514975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10050"/>
            <a:ext cx="5514975" cy="2257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210050"/>
            <a:ext cx="5514975" cy="2257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390525"/>
            <a:ext cx="11258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 SemiBold"/>
              </a:rPr>
              <a:t>Generative AI with Python | Chapter 2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FFFFFF"/>
                </a:solidFill>
                <a:latin typeface="Inter"/>
              </a:rPr>
              <a:t>Curriculum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725" y="771525"/>
            <a:ext cx="112585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725" y="1019175"/>
            <a:ext cx="117252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Section-Wise Class Distribution (2.1 - 2.9)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1714500"/>
            <a:ext cx="53006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Class 1: Ecosystem &amp; Sequence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1714500"/>
            <a:ext cx="53006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Class 2: Contextual NLP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410075"/>
            <a:ext cx="53006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Class 3: Token Tagging &amp;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4410075"/>
            <a:ext cx="53006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Class 4: Multimodal Synthesis &amp; 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105025"/>
            <a:ext cx="472440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CBD5E1"/>
                </a:solidFill>
                <a:latin typeface="Inter"/>
              </a:rPr>
              <a:t>Hugging Face Platform:</a:t>
            </a:r>
            <a:endParaRPr sz="1125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8225" y="2561205"/>
            <a:ext cx="472440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CBD5E1"/>
                </a:solidFill>
                <a:latin typeface="Inter"/>
              </a:rPr>
              <a:t>Text Summarization:</a:t>
            </a:r>
            <a:endParaRPr sz="1125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8225" y="2976562"/>
            <a:ext cx="472440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CBD5E1"/>
                </a:solidFill>
                <a:latin typeface="Inter"/>
              </a:rPr>
              <a:t>Translation</a:t>
            </a:r>
            <a:endParaRPr sz="1125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81800" y="2105025"/>
            <a:ext cx="4724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Zero-Shot Classification: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NLI premise-hypothesis entailment scoring.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2582989"/>
            <a:ext cx="47244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CBD5E1"/>
                </a:solidFill>
                <a:latin typeface="Inter"/>
              </a:rPr>
              <a:t>Fill-Mask Task:</a:t>
            </a:r>
            <a:r>
              <a:rPr sz="1125" b="0" i="0" u="none" dirty="0">
                <a:solidFill>
                  <a:srgbClr val="CBD5E1"/>
                </a:solidFill>
                <a:latin typeface="Inter"/>
              </a:rPr>
              <a:t> Masked Language Modeling (MLM) &amp; BERT.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2976562"/>
            <a:ext cx="47244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Question Answering: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Extractive span pointer detection &amp; SQuAD 2.0.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4800600"/>
            <a:ext cx="4724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Named Entity Recognition (NER):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BIO tagging scheme &amp; subword alignment.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5343525"/>
            <a:ext cx="4724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Anonymization Workflows: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Entity boundary detection &amp; privacy masking.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4800600"/>
            <a:ext cx="47244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Text-to-Image: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CLIP embeddings, Latent U-Net denoising &amp; VAE.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5129212"/>
            <a:ext cx="4724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Text-to-Audio: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MusicGen, EnCodec residual codebooks &amp; WAV export.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105025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557462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2976562"/>
            <a:ext cx="2286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950" y="2105025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566987"/>
            <a:ext cx="22860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7950" y="2976562"/>
            <a:ext cx="228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800600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4375" y="5343525"/>
            <a:ext cx="2286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7950" y="4800600"/>
            <a:ext cx="2286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7950" y="512921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D4096-AE74-44C5-E8FD-2B71504F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30D6C-8F2B-73DA-4EF4-395E191562D9}"/>
              </a:ext>
            </a:extLst>
          </p:cNvPr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Chapter 2 — Learning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178B4-69BE-ABFD-8A79-8BD1BEAF3698}"/>
              </a:ext>
            </a:extLst>
          </p:cNvPr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Conceptual understanding of pretrained, task-specific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B5AF6-E439-915F-07A2-D3661C9D9BA4}"/>
              </a:ext>
            </a:extLst>
          </p:cNvPr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946E89-3D05-717C-D2FD-96C0D7987F12}"/>
              </a:ext>
            </a:extLst>
          </p:cNvPr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EB41F6-4FB9-41A7-DA19-715E2593D3D0}"/>
              </a:ext>
            </a:extLst>
          </p:cNvPr>
          <p:cNvSpPr/>
          <p:nvPr/>
        </p:nvSpPr>
        <p:spPr>
          <a:xfrm>
            <a:off x="685800" y="132588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DE5D38-34CE-C9A9-A83A-3B8308881E9A}"/>
              </a:ext>
            </a:extLst>
          </p:cNvPr>
          <p:cNvSpPr/>
          <p:nvPr/>
        </p:nvSpPr>
        <p:spPr>
          <a:xfrm>
            <a:off x="685800" y="132588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824B9-74DC-A00A-55F3-090E821C0766}"/>
              </a:ext>
            </a:extLst>
          </p:cNvPr>
          <p:cNvSpPr txBox="1"/>
          <p:nvPr/>
        </p:nvSpPr>
        <p:spPr>
          <a:xfrm>
            <a:off x="868680" y="1453895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Pretrained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C7562-C055-C82C-1B67-A5E3A09DB033}"/>
              </a:ext>
            </a:extLst>
          </p:cNvPr>
          <p:cNvSpPr txBox="1"/>
          <p:nvPr/>
        </p:nvSpPr>
        <p:spPr>
          <a:xfrm>
            <a:off x="868680" y="1892807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Why reuse an existing model?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208F1B-AD1D-7A30-3D65-5FA37AFEDA8E}"/>
              </a:ext>
            </a:extLst>
          </p:cNvPr>
          <p:cNvSpPr/>
          <p:nvPr/>
        </p:nvSpPr>
        <p:spPr>
          <a:xfrm>
            <a:off x="6309360" y="132588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E2458D-9299-5B91-B8D3-FAB3F459914B}"/>
              </a:ext>
            </a:extLst>
          </p:cNvPr>
          <p:cNvSpPr/>
          <p:nvPr/>
        </p:nvSpPr>
        <p:spPr>
          <a:xfrm>
            <a:off x="6309360" y="132588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D4634-956E-56D0-4255-5E104E3E6F0F}"/>
              </a:ext>
            </a:extLst>
          </p:cNvPr>
          <p:cNvSpPr txBox="1"/>
          <p:nvPr/>
        </p:nvSpPr>
        <p:spPr>
          <a:xfrm>
            <a:off x="6492240" y="1453895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Hugging 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729ED-585D-690F-AA2D-3E8A1417F1F7}"/>
              </a:ext>
            </a:extLst>
          </p:cNvPr>
          <p:cNvSpPr txBox="1"/>
          <p:nvPr/>
        </p:nvSpPr>
        <p:spPr>
          <a:xfrm>
            <a:off x="6492240" y="1892807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Find models, datasets and tools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F9CC62-C052-CEE8-B7D3-6349256F9EEA}"/>
              </a:ext>
            </a:extLst>
          </p:cNvPr>
          <p:cNvSpPr/>
          <p:nvPr/>
        </p:nvSpPr>
        <p:spPr>
          <a:xfrm>
            <a:off x="685800" y="228600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5020C-BE4C-74AE-E8E2-EF617B3D44AA}"/>
              </a:ext>
            </a:extLst>
          </p:cNvPr>
          <p:cNvSpPr/>
          <p:nvPr/>
        </p:nvSpPr>
        <p:spPr>
          <a:xfrm>
            <a:off x="685800" y="2286000"/>
            <a:ext cx="64008" cy="77724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96DC56-6E12-ED52-09F1-DE29A4742CD0}"/>
              </a:ext>
            </a:extLst>
          </p:cNvPr>
          <p:cNvSpPr txBox="1"/>
          <p:nvPr/>
        </p:nvSpPr>
        <p:spPr>
          <a:xfrm>
            <a:off x="868680" y="241401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 Summarization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E98A1C-A177-6EA6-2051-2F5C48589E7C}"/>
              </a:ext>
            </a:extLst>
          </p:cNvPr>
          <p:cNvSpPr txBox="1"/>
          <p:nvPr/>
        </p:nvSpPr>
        <p:spPr>
          <a:xfrm>
            <a:off x="868680" y="285292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Condense long text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9484D1-4826-9E23-F83E-53FF9BBC0022}"/>
              </a:ext>
            </a:extLst>
          </p:cNvPr>
          <p:cNvSpPr/>
          <p:nvPr/>
        </p:nvSpPr>
        <p:spPr>
          <a:xfrm>
            <a:off x="6309360" y="228600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5E67AB-CAB1-A412-E4E5-F6845D38FA68}"/>
              </a:ext>
            </a:extLst>
          </p:cNvPr>
          <p:cNvSpPr/>
          <p:nvPr/>
        </p:nvSpPr>
        <p:spPr>
          <a:xfrm>
            <a:off x="6309360" y="2286000"/>
            <a:ext cx="64008" cy="77724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62B7DA-CD39-CE1D-60D3-1A4F835A0F3F}"/>
              </a:ext>
            </a:extLst>
          </p:cNvPr>
          <p:cNvSpPr txBox="1"/>
          <p:nvPr/>
        </p:nvSpPr>
        <p:spPr>
          <a:xfrm>
            <a:off x="6492240" y="241401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Translation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065820-19F3-9411-FDF2-13AB0BAF0DCE}"/>
              </a:ext>
            </a:extLst>
          </p:cNvPr>
          <p:cNvSpPr txBox="1"/>
          <p:nvPr/>
        </p:nvSpPr>
        <p:spPr>
          <a:xfrm>
            <a:off x="6492240" y="285292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Convert between languages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14E98E1-FF0F-985D-7605-BB51BB84F803}"/>
              </a:ext>
            </a:extLst>
          </p:cNvPr>
          <p:cNvSpPr/>
          <p:nvPr/>
        </p:nvSpPr>
        <p:spPr>
          <a:xfrm>
            <a:off x="685800" y="324612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F78364-CEB4-2378-64A8-DC23AAFCA6F3}"/>
              </a:ext>
            </a:extLst>
          </p:cNvPr>
          <p:cNvSpPr/>
          <p:nvPr/>
        </p:nvSpPr>
        <p:spPr>
          <a:xfrm>
            <a:off x="685800" y="324612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BE5E03-E014-222B-7709-A19865D3CB04}"/>
              </a:ext>
            </a:extLst>
          </p:cNvPr>
          <p:cNvSpPr txBox="1"/>
          <p:nvPr/>
        </p:nvSpPr>
        <p:spPr>
          <a:xfrm>
            <a:off x="868680" y="337413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Zero-Shot Classification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C0806C-F721-B525-769B-58199595FB4A}"/>
              </a:ext>
            </a:extLst>
          </p:cNvPr>
          <p:cNvSpPr txBox="1"/>
          <p:nvPr/>
        </p:nvSpPr>
        <p:spPr>
          <a:xfrm>
            <a:off x="868680" y="381304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Classify without task-specific training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4002D78-48C7-4153-DB82-C1B6D355A1C8}"/>
              </a:ext>
            </a:extLst>
          </p:cNvPr>
          <p:cNvSpPr/>
          <p:nvPr/>
        </p:nvSpPr>
        <p:spPr>
          <a:xfrm>
            <a:off x="6309360" y="324612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D4A3B0-3CC7-0DFD-5C8B-C8A447BF222B}"/>
              </a:ext>
            </a:extLst>
          </p:cNvPr>
          <p:cNvSpPr/>
          <p:nvPr/>
        </p:nvSpPr>
        <p:spPr>
          <a:xfrm>
            <a:off x="6309360" y="324612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CAA1F8-2B2E-59A1-5530-C5C6DB96E060}"/>
              </a:ext>
            </a:extLst>
          </p:cNvPr>
          <p:cNvSpPr txBox="1"/>
          <p:nvPr/>
        </p:nvSpPr>
        <p:spPr>
          <a:xfrm>
            <a:off x="6492240" y="337413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Fill-Mask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FC9CF8-2D7E-EEC3-0DA6-C2A726B35E9C}"/>
              </a:ext>
            </a:extLst>
          </p:cNvPr>
          <p:cNvSpPr txBox="1"/>
          <p:nvPr/>
        </p:nvSpPr>
        <p:spPr>
          <a:xfrm>
            <a:off x="6492240" y="381304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Predict missing tokens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81056D5-688F-86FE-CE05-BC4C382F6260}"/>
              </a:ext>
            </a:extLst>
          </p:cNvPr>
          <p:cNvSpPr/>
          <p:nvPr/>
        </p:nvSpPr>
        <p:spPr>
          <a:xfrm>
            <a:off x="685800" y="420624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64111E-E428-4F44-0103-0B8AB396DA33}"/>
              </a:ext>
            </a:extLst>
          </p:cNvPr>
          <p:cNvSpPr/>
          <p:nvPr/>
        </p:nvSpPr>
        <p:spPr>
          <a:xfrm>
            <a:off x="685800" y="4206240"/>
            <a:ext cx="64008" cy="77724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ADDF9C-8D5D-19C9-9C6C-697DF1B613EF}"/>
              </a:ext>
            </a:extLst>
          </p:cNvPr>
          <p:cNvSpPr txBox="1"/>
          <p:nvPr/>
        </p:nvSpPr>
        <p:spPr>
          <a:xfrm>
            <a:off x="868680" y="433425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Question Answering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6130F1-CC74-045A-3E2C-5EE107F3AB93}"/>
              </a:ext>
            </a:extLst>
          </p:cNvPr>
          <p:cNvSpPr txBox="1"/>
          <p:nvPr/>
        </p:nvSpPr>
        <p:spPr>
          <a:xfrm>
            <a:off x="868680" y="477316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Answer from context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30A9E2F-688B-B785-0C2C-790D5BAA6FE9}"/>
              </a:ext>
            </a:extLst>
          </p:cNvPr>
          <p:cNvSpPr/>
          <p:nvPr/>
        </p:nvSpPr>
        <p:spPr>
          <a:xfrm>
            <a:off x="6309360" y="420624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DD5377-E2FD-D24F-4F70-3462604F6BD9}"/>
              </a:ext>
            </a:extLst>
          </p:cNvPr>
          <p:cNvSpPr/>
          <p:nvPr/>
        </p:nvSpPr>
        <p:spPr>
          <a:xfrm>
            <a:off x="6309360" y="4206240"/>
            <a:ext cx="64008" cy="77724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99603-E5D9-1741-ABF5-D60908923A5F}"/>
              </a:ext>
            </a:extLst>
          </p:cNvPr>
          <p:cNvSpPr txBox="1"/>
          <p:nvPr/>
        </p:nvSpPr>
        <p:spPr>
          <a:xfrm>
            <a:off x="6492240" y="433425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NER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C9D206-4E0D-BB35-664F-0BC3BAEC3A72}"/>
              </a:ext>
            </a:extLst>
          </p:cNvPr>
          <p:cNvSpPr txBox="1"/>
          <p:nvPr/>
        </p:nvSpPr>
        <p:spPr>
          <a:xfrm>
            <a:off x="6492240" y="477316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Extract named entities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4FF0D04-F704-006A-E729-85D291AF1897}"/>
              </a:ext>
            </a:extLst>
          </p:cNvPr>
          <p:cNvSpPr/>
          <p:nvPr/>
        </p:nvSpPr>
        <p:spPr>
          <a:xfrm>
            <a:off x="685800" y="51663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55EC0D-BF4F-1141-475D-7110494D6712}"/>
              </a:ext>
            </a:extLst>
          </p:cNvPr>
          <p:cNvSpPr/>
          <p:nvPr/>
        </p:nvSpPr>
        <p:spPr>
          <a:xfrm>
            <a:off x="685800" y="5166360"/>
            <a:ext cx="64008" cy="777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439ADC-1CD4-6AAA-EFF7-CBC421B8263E}"/>
              </a:ext>
            </a:extLst>
          </p:cNvPr>
          <p:cNvSpPr txBox="1"/>
          <p:nvPr/>
        </p:nvSpPr>
        <p:spPr>
          <a:xfrm>
            <a:off x="868680" y="52943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Text-to-Image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324136-A9D3-936E-383F-605A8E241968}"/>
              </a:ext>
            </a:extLst>
          </p:cNvPr>
          <p:cNvSpPr txBox="1"/>
          <p:nvPr/>
        </p:nvSpPr>
        <p:spPr>
          <a:xfrm>
            <a:off x="868680" y="573328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Generate images from prompts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10AC619-BCD7-F219-DFFE-71A4F03595F8}"/>
              </a:ext>
            </a:extLst>
          </p:cNvPr>
          <p:cNvSpPr/>
          <p:nvPr/>
        </p:nvSpPr>
        <p:spPr>
          <a:xfrm>
            <a:off x="6309360" y="5166360"/>
            <a:ext cx="5257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17D5FC-0AA8-8A15-815A-371AB18E64D3}"/>
              </a:ext>
            </a:extLst>
          </p:cNvPr>
          <p:cNvSpPr/>
          <p:nvPr/>
        </p:nvSpPr>
        <p:spPr>
          <a:xfrm>
            <a:off x="6309360" y="5166360"/>
            <a:ext cx="64008" cy="777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009B7D-0954-BFF3-9F92-90E3EFFF472E}"/>
              </a:ext>
            </a:extLst>
          </p:cNvPr>
          <p:cNvSpPr txBox="1"/>
          <p:nvPr/>
        </p:nvSpPr>
        <p:spPr>
          <a:xfrm>
            <a:off x="6492240" y="52943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Text-to-Audio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A8094D-BFB4-F460-2FE0-866C64BBDC5A}"/>
              </a:ext>
            </a:extLst>
          </p:cNvPr>
          <p:cNvSpPr txBox="1"/>
          <p:nvPr/>
        </p:nvSpPr>
        <p:spPr>
          <a:xfrm>
            <a:off x="6492240" y="5733288"/>
            <a:ext cx="493776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t>Generate music from prompts</a:t>
            </a:r>
          </a:p>
        </p:txBody>
      </p:sp>
    </p:spTree>
    <p:extLst>
      <p:ext uri="{BB962C8B-B14F-4D97-AF65-F5344CB8AC3E}">
        <p14:creationId xmlns:p14="http://schemas.microsoft.com/office/powerpoint/2010/main" val="15025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What is a Pretrained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model that has already learned from data and can be reused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74519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Large Training Data</a:t>
            </a:r>
          </a:p>
        </p:txBody>
      </p:sp>
      <p:sp>
        <p:nvSpPr>
          <p:cNvPr id="7" name="Chevron 6"/>
          <p:cNvSpPr/>
          <p:nvPr/>
        </p:nvSpPr>
        <p:spPr>
          <a:xfrm>
            <a:off x="3127248" y="207568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20440" y="1874519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9" name="Chevron 8"/>
          <p:cNvSpPr/>
          <p:nvPr/>
        </p:nvSpPr>
        <p:spPr>
          <a:xfrm>
            <a:off x="5641848" y="207568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874519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Pretrained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8156448" y="207568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49640" y="1874519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New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2B34"/>
                </a:solidFill>
                <a:latin typeface="Aptos"/>
              </a:defRPr>
            </a:pPr>
            <a:r>
              <a:t>• Training is performed before the model is used for our specific application.</a:t>
            </a:r>
          </a:p>
          <a:p>
            <a:pPr>
              <a:spcAft>
                <a:spcPts val="500"/>
              </a:spcAft>
              <a:defRPr sz="1600">
                <a:solidFill>
                  <a:srgbClr val="262B34"/>
                </a:solidFill>
                <a:latin typeface="Aptos"/>
              </a:defRPr>
            </a:pPr>
            <a:r>
              <a:t>• The learned parameters contain patterns and representations acquired during previous training.</a:t>
            </a:r>
          </a:p>
          <a:p>
            <a:pPr>
              <a:spcAft>
                <a:spcPts val="500"/>
              </a:spcAft>
              <a:defRPr sz="1600">
                <a:solidFill>
                  <a:srgbClr val="262B34"/>
                </a:solidFill>
                <a:latin typeface="Aptos"/>
              </a:defRPr>
            </a:pPr>
            <a:r>
              <a:t>• The model may be used directly for a supported task or adapted/fine-tuned for a new dataset.</a:t>
            </a:r>
          </a:p>
          <a:p>
            <a:pPr>
              <a:spcAft>
                <a:spcPts val="500"/>
              </a:spcAft>
              <a:defRPr sz="1600">
                <a:solidFill>
                  <a:srgbClr val="262B34"/>
                </a:solidFill>
                <a:latin typeface="Aptos"/>
              </a:defRPr>
            </a:pPr>
            <a:r>
              <a:t>• Pretrained, task-specific models can be much smaller and easier to run locally than very large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5257800"/>
            <a:ext cx="4572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94760" y="5303520"/>
            <a:ext cx="64008" cy="685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77640" y="5431536"/>
            <a:ext cx="4251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5870448"/>
            <a:ext cx="425196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2B34"/>
                </a:solidFill>
                <a:latin typeface="Aptos"/>
              </a:defRPr>
            </a:pPr>
            <a:r>
              <a:rPr dirty="0"/>
              <a:t>Reuse learned capability instead of rebuilding everything from scratch.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Classic ML Models vs. 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Why begin with task-specific pretrained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5204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41605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Classic / Task-Specific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320040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One model is commonly built for one task</a:t>
            </a:r>
            <a:br/>
            <a:r>
              <a:t>• Often trained with labeled data</a:t>
            </a:r>
            <a:br/>
            <a:r>
              <a:t>• Narrow, specialized capability</a:t>
            </a:r>
            <a:br/>
            <a:r>
              <a:t>• Usually smaller</a:t>
            </a:r>
            <a:br/>
            <a:r>
              <a:t>• Often practical to run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1605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53895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Pretrained Specialized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7"/>
            <a:ext cx="320040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Already trained for a particular task</a:t>
            </a:r>
            <a:br/>
            <a:r>
              <a:t>• Can often be used out of the box</a:t>
            </a:r>
            <a:br/>
            <a:r>
              <a:t>• Reusable through a model interface</a:t>
            </a:r>
            <a:br/>
            <a:r>
              <a:t>• Smaller than a general-purpose LLM</a:t>
            </a:r>
            <a:br/>
            <a:r>
              <a:t>• Useful when the task is well defined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5204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64008" cy="41605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453895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LLM / Large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892807"/>
            <a:ext cx="320040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Trained on very large and often diverse datasets</a:t>
            </a:r>
            <a:br/>
            <a:r>
              <a:t>• Can support many language capabilities</a:t>
            </a:r>
            <a:br/>
            <a:r>
              <a:t>• Powerful and flexible</a:t>
            </a:r>
            <a:br/>
            <a:r>
              <a:t>• Higher inference cost may occur</a:t>
            </a:r>
            <a:br/>
            <a:r>
              <a:t>• Local deployment can be difficult for large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Practical principle: use a simple model when the task is simple; use a larger model when the task requires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Why Use a Task-Specific Pretrained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Model choice is a balance between capability, cost, latency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Define Task</a:t>
            </a:r>
          </a:p>
        </p:txBody>
      </p:sp>
      <p:sp>
        <p:nvSpPr>
          <p:cNvPr id="7" name="Chevron 6"/>
          <p:cNvSpPr/>
          <p:nvPr/>
        </p:nvSpPr>
        <p:spPr>
          <a:xfrm>
            <a:off x="3310128" y="17099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Choose Suitable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5916168" y="17099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Run Inference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8522207" y="17099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69680" y="150876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Evaluate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88920"/>
            <a:ext cx="26060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88920"/>
            <a:ext cx="64008" cy="23317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1693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Specialization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55848"/>
            <a:ext cx="22860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The model is trained for a relatively narrow purpose and can be well matched to that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788920"/>
            <a:ext cx="26060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2788920"/>
            <a:ext cx="64008" cy="233172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291693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55848"/>
            <a:ext cx="22860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A smaller model may reduce inference time and resource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88920"/>
            <a:ext cx="26060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788920"/>
            <a:ext cx="64008" cy="23317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91693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55848"/>
            <a:ext cx="22860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Some applications need models that can operate locally or within controlled environments.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78892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61120" y="2788920"/>
            <a:ext cx="64008" cy="23317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355848"/>
            <a:ext cx="219456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Avoid using a very large model when a simpler model is sufficient.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2.1 Hugging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An ecosystem for sharing and using machine-learning models and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F3864"/>
                </a:solidFill>
                <a:latin typeface="Aptos"/>
              </a:defRPr>
            </a:pPr>
            <a:r>
              <a:t>HUGGING 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38912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62B34"/>
                </a:solidFill>
                <a:latin typeface="Aptos"/>
              </a:defRPr>
            </a:pPr>
            <a:r>
              <a:rPr dirty="0"/>
              <a:t>AI company and open-source platform/ecosystem.</a:t>
            </a: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62B34"/>
                </a:solidFill>
                <a:latin typeface="Aptos"/>
              </a:defRPr>
            </a:pPr>
            <a:r>
              <a:rPr dirty="0"/>
              <a:t>Provides access to pretrained models for NLP, computer vision and other ML tasks.</a:t>
            </a: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62B34"/>
                </a:solidFill>
                <a:latin typeface="Aptos"/>
              </a:defRPr>
            </a:pPr>
            <a:r>
              <a:rPr dirty="0"/>
              <a:t>Provides datasets, libraries, model demonstrations and community resources.</a:t>
            </a: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62B34"/>
                </a:solidFill>
                <a:latin typeface="Aptos"/>
              </a:defRPr>
            </a:pPr>
            <a:r>
              <a:rPr dirty="0"/>
              <a:t>Enables developers to discover, evaluate and reuse models rather than building every model from scratch.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087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508760"/>
            <a:ext cx="64008" cy="8686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63677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21040" y="1508760"/>
            <a:ext cx="64008" cy="8686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19" y="163677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74320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0" y="2743200"/>
            <a:ext cx="64008" cy="8686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287121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Transformers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74320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2743200"/>
            <a:ext cx="64008" cy="86868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287121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Tokenizers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977639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0" y="3977639"/>
            <a:ext cx="64008" cy="8686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4105655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Diffusers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977639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3977639"/>
            <a:ext cx="64008" cy="8686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19" y="4105655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Spaces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Hugging Face: What Can You Find?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platform covers more than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2976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219456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• Summarization</a:t>
            </a:r>
            <a:br/>
            <a:r>
              <a:t>• Translation</a:t>
            </a:r>
            <a:br/>
            <a:r>
              <a:t>• Classification</a:t>
            </a:r>
            <a:br/>
            <a:r>
              <a:t>• Question answering</a:t>
            </a:r>
            <a:br/>
            <a:r>
              <a:t>• Named entity recognition</a:t>
            </a:r>
            <a:br/>
            <a:r>
              <a:t>• Fill-mask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64008" cy="42976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45336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84248"/>
            <a:ext cx="219456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• Image tasks</a:t>
            </a:r>
            <a:br/>
            <a:r>
              <a:t>• Image generation</a:t>
            </a:r>
            <a:br/>
            <a:r>
              <a:t>• Vision models</a:t>
            </a:r>
            <a:br/>
            <a:r>
              <a:t>• Multimodal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64008" cy="42976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545336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84248"/>
            <a:ext cx="219456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• Speech-related tasks</a:t>
            </a:r>
            <a:br/>
            <a:r>
              <a:t>• Audio generation</a:t>
            </a:r>
            <a:br/>
            <a:r>
              <a:t>• Music generation</a:t>
            </a:r>
            <a:br/>
            <a:r>
              <a:t>• Audio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78240" y="1417320"/>
            <a:ext cx="64008" cy="429768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19" y="1545336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Tools &amp;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984248"/>
            <a:ext cx="219456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• Model cards</a:t>
            </a:r>
            <a:br/>
            <a:r>
              <a:t>• Datasets</a:t>
            </a:r>
            <a:br/>
            <a:r>
              <a:t>• Libraries</a:t>
            </a:r>
            <a:br/>
            <a:r>
              <a:t>• Spaces / demos</a:t>
            </a:r>
            <a:br/>
            <a:r>
              <a:t>• Community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Finding the Right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Model selection starts with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1. Identify the task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15000" y="1911095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2093976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2. Filter models by task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15000" y="2679192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862072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3. Filter by language / name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15000" y="3447288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3630168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4. Compare available models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15000" y="4215383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4398264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5. Read the model card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15000" y="4983479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5166360"/>
            <a:ext cx="3429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6. Test and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4173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  <a:latin typeface="Aptos"/>
              </a:defRPr>
            </a:pPr>
            <a:r>
              <a:t>Example: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05740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Select Translation as the task.</a:t>
            </a:r>
          </a:p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Use source/target language information to narrow the results.</a:t>
            </a:r>
          </a:p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Compare models using available information such as popularity, downloads or other indicators.</a:t>
            </a:r>
          </a:p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Read the model card before adopting the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463040"/>
            <a:ext cx="29260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B7B8C"/>
                </a:solidFill>
                <a:latin typeface="Aptos"/>
              </a:defRPr>
            </a:pPr>
            <a:r>
              <a:t>Task</a:t>
            </a:r>
            <a:br/>
            <a:r>
              <a:t>↓</a:t>
            </a:r>
            <a:br/>
            <a:r>
              <a:t>Language pair</a:t>
            </a:r>
            <a:br/>
            <a:r>
              <a:t>↓</a:t>
            </a:r>
            <a:br/>
            <a:r>
              <a:t>Model candidates</a:t>
            </a:r>
            <a:br/>
            <a:r>
              <a:t>↓</a:t>
            </a:r>
            <a:br/>
            <a:r>
              <a:t>Model card</a:t>
            </a:r>
            <a:br/>
            <a:r>
              <a:t>↓</a:t>
            </a:r>
            <a:br/>
            <a:r>
              <a:t>Suitable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Hugging Face Model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model card is the first place to understand a pretrained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43434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31089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What the model does and what task it is intended for.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3434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7"/>
            <a:ext cx="31089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Training information, evaluation metrics, benchmarks and performance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64008" cy="43434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Practical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892807"/>
            <a:ext cx="31089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Usage instructions, files/model size, limitations, supported languages and license.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Student habit: never select a model only by its name—read its model 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2.2 Text Summarization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Generating a shorter version of a longer text while preserving important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Long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480060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62B34"/>
                </a:solidFill>
                <a:latin typeface="Aptos"/>
              </a:defRPr>
            </a:pPr>
            <a:r>
              <a:t>A long research article or document contains more information than the reader may need at once.</a:t>
            </a:r>
            <a:br/>
            <a:br/>
            <a:r>
              <a:t>The task is to identify and express the important information in a shorter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64008" cy="35661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Shorter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80060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62B34"/>
                </a:solidFill>
                <a:latin typeface="Aptos"/>
              </a:defRPr>
            </a:pPr>
            <a:r>
              <a:t>A summary condenses the source while attempting to preserve its key ideas, facts and overall meaning.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F3864"/>
                </a:solidFill>
                <a:latin typeface="Aptos"/>
              </a:defRPr>
            </a:pPr>
            <a:r>
              <a:t>Example: Research paper → key findings, methods, motivation and conclusions in a compact 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Text Summarization: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book demonstrates summarizing an arXiv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ArXiv Article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172821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ArxivLoader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45973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Extracted Text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319125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3337560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Summarization Pipeline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392277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DistilBART Model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60720" y="465429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4800600"/>
            <a:ext cx="3337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Generated 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82880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19568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95728"/>
            <a:ext cx="27432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Scholarly article on a topic such as prompt engineering.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044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520440"/>
            <a:ext cx="64008" cy="14173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4845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87368"/>
            <a:ext cx="27432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Document text is prepared and passed to a summarization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82880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828800"/>
            <a:ext cx="64008" cy="14173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19568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95728"/>
            <a:ext cx="27432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sshleifer/distilbart-cnn-12-6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52044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520440"/>
            <a:ext cx="64008" cy="141732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64845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87368"/>
            <a:ext cx="27432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A shorter text containing the important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What Happens Inside a Summarization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conceptual view—without writing the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Input Text</a:t>
            </a:r>
          </a:p>
        </p:txBody>
      </p:sp>
      <p:sp>
        <p:nvSpPr>
          <p:cNvPr id="7" name="Chevron 6"/>
          <p:cNvSpPr/>
          <p:nvPr/>
        </p:nvSpPr>
        <p:spPr>
          <a:xfrm>
            <a:off x="2304288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87168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Tokenizer</a:t>
            </a:r>
          </a:p>
        </p:txBody>
      </p:sp>
      <p:sp>
        <p:nvSpPr>
          <p:cNvPr id="9" name="Chevron 8"/>
          <p:cNvSpPr/>
          <p:nvPr/>
        </p:nvSpPr>
        <p:spPr>
          <a:xfrm>
            <a:off x="4197096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9976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Token IDs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9904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72783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Transformer Model</a:t>
            </a:r>
          </a:p>
        </p:txBody>
      </p:sp>
      <p:sp>
        <p:nvSpPr>
          <p:cNvPr id="13" name="Chevron 12"/>
          <p:cNvSpPr/>
          <p:nvPr/>
        </p:nvSpPr>
        <p:spPr>
          <a:xfrm>
            <a:off x="7982711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65592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Generated Tokens</a:t>
            </a:r>
          </a:p>
        </p:txBody>
      </p:sp>
      <p:sp>
        <p:nvSpPr>
          <p:cNvPr id="15" name="Chevron 14"/>
          <p:cNvSpPr/>
          <p:nvPr/>
        </p:nvSpPr>
        <p:spPr>
          <a:xfrm>
            <a:off x="9875519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64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62B34"/>
                </a:solidFill>
                <a:latin typeface="Aptos"/>
              </a:defRPr>
            </a:pPr>
            <a:r>
              <a:t>The tokenizer converts text into model-readable tokens/IDs. The Transformer processes the sequence and generates output tokens. The tokenizer/decode stage converts the generated representation back into readable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8503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F3864"/>
                </a:solidFill>
                <a:latin typeface="Aptos"/>
              </a:defRPr>
            </a:pPr>
            <a:r>
              <a:t>Key idea: the pipeline hides many preprocessing and postprocessing steps so the user can focus on the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Tokenizer: Why Do We Need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tokenizer is the bridge between human language and model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F3864"/>
                </a:solidFill>
                <a:latin typeface="Aptos"/>
              </a:defRPr>
            </a:pPr>
            <a:r>
              <a:t>Human Text</a:t>
            </a:r>
          </a:p>
        </p:txBody>
      </p:sp>
      <p:sp>
        <p:nvSpPr>
          <p:cNvPr id="7" name="Chevron 6"/>
          <p:cNvSpPr/>
          <p:nvPr/>
        </p:nvSpPr>
        <p:spPr>
          <a:xfrm>
            <a:off x="2807208" y="202996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81528" y="182880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F3864"/>
                </a:solidFill>
                <a:latin typeface="Aptos"/>
              </a:defRPr>
            </a:pPr>
            <a:r>
              <a:t>Tokenizer</a:t>
            </a:r>
          </a:p>
        </p:txBody>
      </p:sp>
      <p:sp>
        <p:nvSpPr>
          <p:cNvPr id="9" name="Chevron 8"/>
          <p:cNvSpPr/>
          <p:nvPr/>
        </p:nvSpPr>
        <p:spPr>
          <a:xfrm>
            <a:off x="5111496" y="202996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85816" y="182880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F3864"/>
                </a:solidFill>
                <a:latin typeface="Aptos"/>
              </a:defRPr>
            </a:pPr>
            <a:r>
              <a:t>Tokens / Subwords</a:t>
            </a:r>
          </a:p>
        </p:txBody>
      </p:sp>
      <p:sp>
        <p:nvSpPr>
          <p:cNvPr id="11" name="Chevron 10"/>
          <p:cNvSpPr/>
          <p:nvPr/>
        </p:nvSpPr>
        <p:spPr>
          <a:xfrm>
            <a:off x="7415783" y="202996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90104" y="182880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F3864"/>
                </a:solidFill>
                <a:latin typeface="Aptos"/>
              </a:defRPr>
            </a:pPr>
            <a:r>
              <a:t>Token IDs</a:t>
            </a:r>
          </a:p>
        </p:txBody>
      </p:sp>
      <p:sp>
        <p:nvSpPr>
          <p:cNvPr id="13" name="Chevron 12"/>
          <p:cNvSpPr/>
          <p:nvPr/>
        </p:nvSpPr>
        <p:spPr>
          <a:xfrm>
            <a:off x="9720072" y="202996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94392" y="182880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F3864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461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246120"/>
            <a:ext cx="64008" cy="16002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37413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13048"/>
            <a:ext cx="26517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unit of text; it may be a word, subword or punctuation depending on the tokenizer.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2461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3246120"/>
            <a:ext cx="64008" cy="16002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337413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Token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813048"/>
            <a:ext cx="26517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numerical identifier from the tokenizer's vocabulary.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2461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3246120"/>
            <a:ext cx="64008" cy="16002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19" y="337413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Model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813048"/>
            <a:ext cx="26517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The numerical representation is passed to the neural network.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Tokenizer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simplified view of the stages before the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4533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1. Original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14173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4533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2. Normalization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17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1417320"/>
            <a:ext cx="64008" cy="14173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54533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3. Pre-tokenization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832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383280"/>
            <a:ext cx="64008" cy="141732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1129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4. Tokenization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832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0" y="3383280"/>
            <a:ext cx="64008" cy="14173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51129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5. Vocabulary Mapping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3832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3383280"/>
            <a:ext cx="64008" cy="14173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351129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6. Special Tokens + Attention 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The exact behavior depends on the tokenizer associated with the pretrained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Transformer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architecture behind many modern pretrained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Transformers process sequences using attention mechanisms.</a:t>
            </a:r>
          </a:p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They can learn relationships between tokens and their context.</a:t>
            </a:r>
          </a:p>
          <a:p>
            <a:pPr>
              <a:spcAft>
                <a:spcPts val="500"/>
              </a:spcAft>
              <a:defRPr sz="1500">
                <a:solidFill>
                  <a:srgbClr val="262B34"/>
                </a:solidFill>
                <a:latin typeface="Aptos"/>
              </a:defRPr>
            </a:pPr>
            <a:r>
              <a:t>• Different Transformer models are pretrained for different objectives and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4173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F3864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6309360" cy="704089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920240"/>
            <a:ext cx="64008" cy="658368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48256"/>
            <a:ext cx="5989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95728"/>
            <a:ext cx="5989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rPr dirty="0"/>
              <a:t>Encoder-based language understanding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61488"/>
            <a:ext cx="6309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2761488"/>
            <a:ext cx="64008" cy="658368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889504"/>
            <a:ext cx="5989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BART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36976"/>
            <a:ext cx="5989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rPr dirty="0"/>
              <a:t>Sequence-to-sequence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02736"/>
            <a:ext cx="6309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3602736"/>
            <a:ext cx="64008" cy="658368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730752"/>
            <a:ext cx="5989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RoBERTa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78224"/>
            <a:ext cx="5989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rPr dirty="0"/>
              <a:t>Optimized BERT-style 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443984"/>
            <a:ext cx="6309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4443984"/>
            <a:ext cx="64008" cy="658368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572000"/>
            <a:ext cx="5989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DistilBART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19472"/>
            <a:ext cx="5989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62B34"/>
                </a:solidFill>
                <a:latin typeface="Aptos"/>
              </a:defRPr>
            </a:pPr>
            <a:r>
              <a:rPr dirty="0"/>
              <a:t>Smaller distilled BART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Text Summarization Model: DistilBART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model used in the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41605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926079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sshleifer/distilbart-cnn-12-6</a:t>
            </a:r>
            <a:br/>
            <a:br/>
            <a:r>
              <a:t>A pretrained summarization model based on the BART family and distilled to a smaller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64008" cy="41605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453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Why It Fits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84248"/>
            <a:ext cx="2926079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Designed for summarization</a:t>
            </a:r>
            <a:br/>
            <a:r>
              <a:t>• Can be used through a summarization pipeline</a:t>
            </a:r>
            <a:br/>
            <a:r>
              <a:t>• More compact than a full-size model</a:t>
            </a:r>
            <a:br/>
            <a:r>
              <a:t>• Suitable for a focused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173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417320"/>
            <a:ext cx="64008" cy="41605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5453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What Students Should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984248"/>
            <a:ext cx="2926079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Model card</a:t>
            </a:r>
            <a:br/>
            <a:r>
              <a:t>• Input/output expectations</a:t>
            </a:r>
            <a:br/>
            <a:r>
              <a:t>• Model size</a:t>
            </a:r>
            <a:br/>
            <a:r>
              <a:t>• Performance information</a:t>
            </a:r>
            <a:br/>
            <a:r>
              <a:t>• Deployment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  <a:latin typeface="Aptos"/>
              </a:defRPr>
            </a:pPr>
            <a:r>
              <a:t>Task → model → pipeline → inference → 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Text Summarization —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Summarization reduces a long document to a shorter representation of its important information.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ArxivLoader can provide article text; a pretrained summarization model performs the generation.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The Hugging Face pipeline connects the task with the selected pretrained model.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Tokenization converts text into a representation that the Transformer can process.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Model cards help us understand how a specific model should be used and what its limitations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257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34640" y="5257800"/>
            <a:ext cx="64008" cy="7315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5385816"/>
            <a:ext cx="6172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Aptos"/>
              </a:defRPr>
            </a:pPr>
            <a:r>
              <a:t>Bridge to the next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5733288"/>
            <a:ext cx="6172200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2B34"/>
                </a:solidFill>
                <a:latin typeface="Aptos"/>
              </a:defRPr>
            </a:pPr>
            <a:r>
              <a:rPr dirty="0"/>
              <a:t>The same model-selection pattern can now be applied to other tasks.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2.3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Automatically converting text from one language into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60020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Source Language</a:t>
            </a:r>
          </a:p>
        </p:txBody>
      </p:sp>
      <p:sp>
        <p:nvSpPr>
          <p:cNvPr id="7" name="Chevron 6"/>
          <p:cNvSpPr/>
          <p:nvPr/>
        </p:nvSpPr>
        <p:spPr>
          <a:xfrm>
            <a:off x="4498848" y="18013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74920" y="160020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Translation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7744967" y="18013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Target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5468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154680"/>
            <a:ext cx="64008" cy="192024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282696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297180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Translate a sentence while preserving its meaning in the target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15468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154680"/>
            <a:ext cx="64008" cy="192024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282696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21608"/>
            <a:ext cx="297180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A pretrained model is selected for the required language pair.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15468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3154680"/>
            <a:ext cx="64008" cy="192024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282696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21608"/>
            <a:ext cx="297180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Text expressed in the target language.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F3864"/>
                </a:solidFill>
                <a:latin typeface="Aptos"/>
              </a:defRPr>
            </a:pPr>
            <a:r>
              <a:t>Book example: English → Japanese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Translation: How the Model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sequence-to-sequence generation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09728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Source text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1682495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414016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256032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Source representation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3145536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329184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Translation model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3877056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402336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Target-language tokens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60720" y="4608576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475488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Translated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828800"/>
            <a:ext cx="2971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195681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95728"/>
            <a:ext cx="265176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input sentence is written in the source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28800"/>
            <a:ext cx="2971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64008" cy="32004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95681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95728"/>
            <a:ext cx="265176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model generates a corresponding sequence in the target language.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492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  <a:latin typeface="Aptos"/>
              </a:defRPr>
            </a:pPr>
            <a:r>
              <a:t>The model must learn relationships between source-language patterns and target-language expressions.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2.3.1 Translation —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chapter asks students to solve a translation problem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48463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64008" cy="32461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91056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Source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52628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2B34"/>
                </a:solidFill>
                <a:latin typeface="Aptos"/>
              </a:defRPr>
            </a:pPr>
            <a:r>
              <a:t>“Be the change you wish to see in the world.”</a:t>
            </a:r>
            <a:br/>
            <a:br/>
            <a:r>
              <a:t>Language: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8463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463040"/>
            <a:ext cx="64008" cy="32461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91056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Required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29968"/>
            <a:ext cx="452628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2B34"/>
                </a:solidFill>
                <a:latin typeface="Aptos"/>
              </a:defRPr>
            </a:pPr>
            <a:r>
              <a:t>Translate the sentence into Japanese.</a:t>
            </a:r>
            <a:br/>
            <a:br/>
            <a:r>
              <a:t>Goal: preserve the intended meaning while expressing it naturally in the target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578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  <a:latin typeface="Aptos"/>
              </a:defRPr>
            </a:pPr>
            <a:r>
              <a:t>The important skill is not memorizing a model—it is knowing how to find a suitable model for the task.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2.3.2 Translation —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book narrows the Hugging Face search by language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Translation Task</a:t>
            </a:r>
          </a:p>
        </p:txBody>
      </p:sp>
      <p:sp>
        <p:nvSpPr>
          <p:cNvPr id="7" name="Chevron 6"/>
          <p:cNvSpPr/>
          <p:nvPr/>
        </p:nvSpPr>
        <p:spPr>
          <a:xfrm>
            <a:off x="2852928" y="189280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90672" y="169164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Filter by Language</a:t>
            </a:r>
          </a:p>
        </p:txBody>
      </p:sp>
      <p:sp>
        <p:nvSpPr>
          <p:cNvPr id="9" name="Chevron 8"/>
          <p:cNvSpPr/>
          <p:nvPr/>
        </p:nvSpPr>
        <p:spPr>
          <a:xfrm>
            <a:off x="5257800" y="189280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95544" y="169164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en → ja</a:t>
            </a:r>
          </a:p>
        </p:txBody>
      </p:sp>
      <p:sp>
        <p:nvSpPr>
          <p:cNvPr id="11" name="Chevron 10"/>
          <p:cNvSpPr/>
          <p:nvPr/>
        </p:nvSpPr>
        <p:spPr>
          <a:xfrm>
            <a:off x="7662671" y="189280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00416" y="169164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Model Card</a:t>
            </a:r>
          </a:p>
        </p:txBody>
      </p:sp>
      <p:sp>
        <p:nvSpPr>
          <p:cNvPr id="13" name="Chevron 12"/>
          <p:cNvSpPr/>
          <p:nvPr/>
        </p:nvSpPr>
        <p:spPr>
          <a:xfrm>
            <a:off x="10067544" y="189280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05288" y="169164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Suitable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546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154680"/>
            <a:ext cx="64008" cy="18288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28269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21608"/>
            <a:ext cx="2926079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Mitsua/elan-mt-bt-en-ja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1546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154680"/>
            <a:ext cx="64008" cy="1828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28269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Language 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21608"/>
            <a:ext cx="2926079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English → Japanese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1546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154680"/>
            <a:ext cx="64008" cy="18288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28269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Selection Lesson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721608"/>
            <a:ext cx="2926079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2B34"/>
                </a:solidFill>
                <a:latin typeface="Aptos"/>
              </a:defRPr>
            </a:pPr>
            <a:r>
              <a:t>Use the model name, task filters and model card to narrow a large model collection.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Translation —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Translation is a sequence-to-sequence language task.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The required language pair is an important model-selection criterion.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The book uses Mitsua/elan-mt-bt-en-ja for English-to-Japanese translation.</a:t>
            </a:r>
          </a:p>
          <a:p>
            <a:pPr>
              <a:spcAft>
                <a:spcPts val="500"/>
              </a:spcAft>
              <a:defRPr sz="1700">
                <a:solidFill>
                  <a:srgbClr val="262B34"/>
                </a:solidFill>
                <a:latin typeface="Aptos"/>
              </a:defRPr>
            </a:pPr>
            <a:r>
              <a:t>• Different translation models may support different languages and may have different quality and resource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B7B8C"/>
                </a:solidFill>
                <a:latin typeface="Aptos"/>
              </a:defRPr>
            </a:pPr>
            <a:r>
              <a:t>General pattern: identify task → narrow model choices → read model card → test the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2.4 Zero-Shot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Classifying text into candidate categories without training a new classifier for those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41148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Traditional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75488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Training examples are labeled with known categories.</a:t>
            </a:r>
            <a:br/>
            <a:br/>
            <a:r>
              <a:t>The classifier learns a mapping from input features to those predefined classes.</a:t>
            </a:r>
            <a:br/>
            <a:br/>
            <a:r>
              <a:t>A new category normally requires additional training data and model adaptation.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64008" cy="4114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Zero-Shot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75488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A pretrained model receives the input text and candidate labels at inference time.</a:t>
            </a:r>
            <a:br/>
            <a:br/>
            <a:r>
              <a:t>It uses its learned language/semantic knowledge to estimate how well the text matches each label.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Zero-Shot Classification: Conceptual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Input Text</a:t>
            </a:r>
          </a:p>
        </p:txBody>
      </p:sp>
      <p:sp>
        <p:nvSpPr>
          <p:cNvPr id="6" name="Chevron 5"/>
          <p:cNvSpPr/>
          <p:nvPr/>
        </p:nvSpPr>
        <p:spPr>
          <a:xfrm>
            <a:off x="2670048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44368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Candidate Labels</a:t>
            </a:r>
          </a:p>
        </p:txBody>
      </p:sp>
      <p:sp>
        <p:nvSpPr>
          <p:cNvPr id="8" name="Chevron 7"/>
          <p:cNvSpPr/>
          <p:nvPr/>
        </p:nvSpPr>
        <p:spPr>
          <a:xfrm>
            <a:off x="5020055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94376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Pretrained 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7370063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44383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Semantic Comparison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720072" y="202996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94392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Scores / 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2900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429000"/>
            <a:ext cx="64008" cy="15087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55701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95928"/>
            <a:ext cx="2788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text passage whose category is unknown.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42900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429000"/>
            <a:ext cx="64008" cy="15087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55701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995928"/>
            <a:ext cx="2788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Categories such as romance, fantasy and crime are supplied by the user.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42900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429000"/>
            <a:ext cx="64008" cy="150876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55701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995928"/>
            <a:ext cx="2788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The model assigns scores and ranks the candidate labels.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rPr dirty="0"/>
              <a:t>Zero-Shot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Genre classification from short book passages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42976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Pride and Prejudice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3154679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Candidate label: romance</a:t>
            </a:r>
            <a:br/>
            <a:br/>
            <a:r>
              <a:t>The model receives only a passage, not a task-specific training set for this classification exercise.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2976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53895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Alice's Adventures in Wonderland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7"/>
            <a:ext cx="3154679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Candidate label: fantasy</a:t>
            </a:r>
            <a:br/>
            <a:br/>
            <a:r>
              <a:t>The model uses the passage's semantic content to compare it with the supplied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64008" cy="42976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453895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The Return of Sherlock Holmes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892807"/>
            <a:ext cx="3154679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Candidate label: crime</a:t>
            </a:r>
            <a:br/>
            <a:br/>
            <a:r>
              <a:t>The book reports that the model assigns the crime label with a very high probability.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Zero-Shot Model: BART Large MNLI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model selected in the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657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64008" cy="40233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9616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333756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facebook/bart-large-mnli</a:t>
            </a:r>
            <a:br/>
            <a:br/>
            <a:r>
              <a:t>A BART-based pretrained model fine-tuned for natural-language inference (MNLI).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063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64008" cy="40233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4996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Why It 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38528"/>
            <a:ext cx="274320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model can compare a text input with candidate hypotheses/labels and produce scores useful for zero-shot classification.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64008" cy="402336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9" y="1499616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Student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938528"/>
            <a:ext cx="324612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Zero-shot classification does not mean “no training ever.”</a:t>
            </a:r>
            <a:br/>
            <a:br/>
            <a:r>
              <a:t>It means the model can classify new candidate categories without a separate task-specific classifier being trained for those categories.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2.5 Fill-Mask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Predicting a missing token from its surrounding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F3864"/>
                </a:solidFill>
                <a:latin typeface="Aptos"/>
              </a:defRPr>
            </a:pPr>
            <a:r>
              <a:t>Example:  “AI is transforming the [MASK] industry.”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331720"/>
            <a:ext cx="2148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Masked Sentence</a:t>
            </a:r>
          </a:p>
        </p:txBody>
      </p:sp>
      <p:sp>
        <p:nvSpPr>
          <p:cNvPr id="8" name="Chevron 7"/>
          <p:cNvSpPr/>
          <p:nvPr/>
        </p:nvSpPr>
        <p:spPr>
          <a:xfrm>
            <a:off x="3401568" y="253288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94760" y="2331720"/>
            <a:ext cx="2148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BERT</a:t>
            </a:r>
          </a:p>
        </p:txBody>
      </p:sp>
      <p:sp>
        <p:nvSpPr>
          <p:cNvPr id="10" name="Chevron 9"/>
          <p:cNvSpPr/>
          <p:nvPr/>
        </p:nvSpPr>
        <p:spPr>
          <a:xfrm>
            <a:off x="6053328" y="253288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2331720"/>
            <a:ext cx="2148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Contextual Prediction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8705088" y="253288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98280" y="2331720"/>
            <a:ext cx="2148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Candidate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703320"/>
            <a:ext cx="64008" cy="14173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3133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What is missing?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7024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token at the [MASK]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703320"/>
            <a:ext cx="64008" cy="14173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83133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What does the model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7024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Words before and after the mask.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703320"/>
            <a:ext cx="64008" cy="14173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83133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What is produced?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7024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Likely replacement tokens with scores.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Fill-Mask: Why BERT Is Suitable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Masked Language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Sentence with a missing token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002536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2258568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BERT reads the surrounding context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935223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3191256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Predicts likely tokens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3867911"/>
            <a:ext cx="365760" cy="201168"/>
          </a:xfrm>
          <a:prstGeom prst="downArrow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4123944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Ranks the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30175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956816"/>
            <a:ext cx="2697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95728"/>
            <a:ext cx="2697479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Bidirectional Encoder Representations from Transformers.</a:t>
            </a:r>
            <a:br/>
            <a:br/>
            <a:r>
              <a:t>BERT was pretrained with masked-language-modeling objectives, making missing-token prediction a natural use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0175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64008" cy="32004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956816"/>
            <a:ext cx="2697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Book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95728"/>
            <a:ext cx="2697479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bert-base-uncased</a:t>
            </a:r>
            <a:br/>
            <a:br/>
            <a:r>
              <a:t>The chapter uses this model for the fill-mask example.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50" b="1">
                <a:solidFill>
                  <a:srgbClr val="1F3864"/>
                </a:solidFill>
                <a:latin typeface="Aptos"/>
              </a:defRPr>
            </a:pPr>
            <a:r>
              <a:t>The model can propose alternatives such as role, fashion, super or business for “I am a [MASK] model.”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2.6 Question Answering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Answering questions using information contained in a supplied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Chevron 6"/>
          <p:cNvSpPr/>
          <p:nvPr/>
        </p:nvSpPr>
        <p:spPr>
          <a:xfrm>
            <a:off x="3310128" y="19385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49039" y="17373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Question + Context</a:t>
            </a:r>
          </a:p>
        </p:txBody>
      </p:sp>
      <p:sp>
        <p:nvSpPr>
          <p:cNvPr id="9" name="Chevron 8"/>
          <p:cNvSpPr/>
          <p:nvPr/>
        </p:nvSpPr>
        <p:spPr>
          <a:xfrm>
            <a:off x="6144768" y="19385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0" y="17373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QA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8979407" y="193852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18320" y="173736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64008" cy="17373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741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92607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A passage containing relevant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4612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3246120"/>
            <a:ext cx="64008" cy="17373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3741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813048"/>
            <a:ext cx="292607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information the user wants to retrieve.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24612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3246120"/>
            <a:ext cx="64008" cy="173736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37413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13048"/>
            <a:ext cx="292607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model locates an answer span in the supplied context.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Question Answering: Context Is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chapter uses a narrow, context-based QA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74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42519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53895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Example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475488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“Remote work allows employees to work from anywhere, providing flexibility and a better work-life balance. It reduces commuting time…”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64008" cy="42519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53895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Question →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92807"/>
            <a:ext cx="475488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Question: What are the benefits of remote work?</a:t>
            </a:r>
            <a:br/>
            <a:br/>
            <a:r>
              <a:t>Answer: flexibility and a better work-life balance</a:t>
            </a:r>
            <a:br/>
            <a:br/>
            <a:r>
              <a:t>The model extracts the answer from the supplied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A64343"/>
                </a:solidFill>
                <a:latin typeface="Aptos"/>
              </a:defRPr>
            </a:pPr>
            <a:r>
              <a:t>Important limitation: the model relies on the supplied context and does not use external knowledge.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Question Answering Model: RoBERTa SQuAD2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model selected in the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64008" cy="41148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9616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333756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deepset/roberta-base-squad2</a:t>
            </a:r>
            <a:br/>
            <a:br/>
            <a:r>
              <a:t>A RoBERTa-based question-answering model trained for SQuAD 2.0.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71600"/>
            <a:ext cx="3063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371600"/>
            <a:ext cx="64008" cy="4114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4996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SQuAD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38528"/>
            <a:ext cx="274320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dataset includes questions that may be answerable or unanswerable from the supplied context.</a:t>
            </a:r>
            <a:br/>
            <a:br/>
            <a:r>
              <a:t>This challenges QA systems to recognize when the context does not provide an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520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64008" cy="41148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9" y="14996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Model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938528"/>
            <a:ext cx="320040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Question + context → answer span or inability to find a supported answer.</a:t>
            </a:r>
            <a:br/>
            <a:br/>
            <a:r>
              <a:t>The chapter emphasizes context-based inference.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2.7 Named Entity Recognition (NER)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Identifying and categorizing important entities in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3864"/>
                </a:solidFill>
                <a:latin typeface="Aptos"/>
              </a:defRPr>
            </a:pPr>
            <a:r>
              <a:t>“My name is Bert and I live in Hamburg.”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8" name="Chevron 7"/>
          <p:cNvSpPr/>
          <p:nvPr/>
        </p:nvSpPr>
        <p:spPr>
          <a:xfrm>
            <a:off x="3264408" y="262432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242316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6007608" y="262432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42316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Token Classification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8750807" y="2624328"/>
            <a:ext cx="256032" cy="329184"/>
          </a:xfrm>
          <a:prstGeom prst="chevron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242316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Entity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64008" cy="13716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96849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PERSON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07408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Bert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84048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840480"/>
            <a:ext cx="64008" cy="13716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96849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407408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Hamburg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4048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840480"/>
            <a:ext cx="64008" cy="13716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96849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Other possible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07408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Organization, date, quantity, miscellaneous entities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NER: From Unstructured Text to Structured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Why NER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41605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961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Information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01752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Automatically identify names, places, dates and other relevant entities.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64008" cy="41605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9961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Search &amp;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38528"/>
            <a:ext cx="301752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Convert free text into structured signals that can be searched, counted or analyzed.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64008" cy="41605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99616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Anonymization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301752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Identify persons, places and dates so sensitive entities can be removed or masked.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NER Model: BERT Token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model selected in the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41148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9616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33756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dslim/bert-base-NER</a:t>
            </a:r>
            <a:br/>
            <a:br/>
            <a:r>
              <a:t>A BERT-based model designed for named entity recognition.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154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64008" cy="4114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49961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Task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38528"/>
            <a:ext cx="283464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Token classification</a:t>
            </a:r>
            <a:br/>
            <a:br/>
            <a:r>
              <a:t>The model assigns an entity label to tokens/token spans.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1371600"/>
            <a:ext cx="64008" cy="41148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499616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938528"/>
            <a:ext cx="3154679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Bert → B-PER</a:t>
            </a:r>
            <a:br/>
            <a:r>
              <a:t>Hamburg → B-LOC</a:t>
            </a:r>
            <a:br/>
            <a:br/>
            <a:r>
              <a:t>The chapter reports very high scores for these two detections in its example.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2.8 Text-to-Image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Generating an image from a textual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3864"/>
                </a:solidFill>
                <a:latin typeface="Aptos"/>
              </a:defRPr>
            </a:pPr>
            <a:r>
              <a:t>Prompt:  “dog”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 Prompt</a:t>
            </a:r>
          </a:p>
        </p:txBody>
      </p:sp>
      <p:sp>
        <p:nvSpPr>
          <p:cNvPr id="8" name="Chevron 7"/>
          <p:cNvSpPr/>
          <p:nvPr/>
        </p:nvSpPr>
        <p:spPr>
          <a:xfrm>
            <a:off x="3310128" y="244144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03320" y="22402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 Representation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6099048" y="244144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22402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Generative Model</a:t>
            </a:r>
          </a:p>
        </p:txBody>
      </p:sp>
      <p:sp>
        <p:nvSpPr>
          <p:cNvPr id="12" name="Chevron 11"/>
          <p:cNvSpPr/>
          <p:nvPr/>
        </p:nvSpPr>
        <p:spPr>
          <a:xfrm>
            <a:off x="8887967" y="2441448"/>
            <a:ext cx="256032" cy="329184"/>
          </a:xfrm>
          <a:prstGeom prst="chevron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81159" y="22402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64008" cy="14173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78561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2452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textual description of the desired visual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576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657600"/>
            <a:ext cx="64008" cy="141732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78561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2452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pretrained generative model produces visual content from the prompt.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657600"/>
            <a:ext cx="64008" cy="14173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785615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24528"/>
            <a:ext cx="2834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A newly generated image.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Text-to-Image: Model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chapter deliberately chooses a relatively small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657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64008" cy="40690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9616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333756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amused/amused-256</a:t>
            </a:r>
            <a:br/>
            <a:br/>
            <a:r>
              <a:t>Produces 256 × 256 pixel images in the chapter example.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71600"/>
            <a:ext cx="30632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371600"/>
            <a:ext cx="64008" cy="40690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4996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38528"/>
            <a:ext cx="274320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example uses the Diffusers ecosystem for text-to-image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5204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64008" cy="40690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9" y="14996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Resource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938528"/>
            <a:ext cx="320040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Text-to-image models can be resource intensive.</a:t>
            </a:r>
            <a:br/>
            <a:br/>
            <a:r>
              <a:t>The book notes that its CPU example took about half an hour, illustrating why model size and hardware matter.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Diffusion-Based Image Generation — High-Level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Conceptual understanding rather than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80160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 Prompt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1956816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2212848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 / semantic representation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889503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3145536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Generative process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3822191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4078224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Image representation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4754879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5010912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Generated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828800"/>
            <a:ext cx="3017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1956816"/>
            <a:ext cx="2697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Diffusers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95728"/>
            <a:ext cx="2697479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A library/ecosystem used to work with diffusion-based generative models.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3017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64008" cy="324612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956816"/>
            <a:ext cx="2697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Why the model card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95728"/>
            <a:ext cx="2697479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book notes that much of the implementation can be taken directly from the model card, making the documented model interface important.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2.9 Text-to-Audio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Generating audio—specifically music in the chapter exercise—from a text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Music Prompt</a:t>
            </a:r>
          </a:p>
        </p:txBody>
      </p:sp>
      <p:sp>
        <p:nvSpPr>
          <p:cNvPr id="7" name="Chevron 6"/>
          <p:cNvSpPr/>
          <p:nvPr/>
        </p:nvSpPr>
        <p:spPr>
          <a:xfrm>
            <a:off x="3310128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03320" y="1828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Text-to-Audio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6099048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Generated Audio</a:t>
            </a:r>
          </a:p>
        </p:txBody>
      </p:sp>
      <p:sp>
        <p:nvSpPr>
          <p:cNvPr id="11" name="Chevron 10"/>
          <p:cNvSpPr/>
          <p:nvPr/>
        </p:nvSpPr>
        <p:spPr>
          <a:xfrm>
            <a:off x="8887967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81159" y="182880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WAV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64008" cy="16002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6557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04487"/>
            <a:ext cx="292607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A textual description of the desired music.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3375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3337560"/>
            <a:ext cx="64008" cy="16002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46557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04487"/>
            <a:ext cx="292607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The model converts the description into a musical audio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64008" cy="16002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465576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04487"/>
            <a:ext cx="292607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Audio that can be saved and played as a WAV file.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2.9.1 Text-to-Audio —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chapter asks students to find a model and run it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846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64008" cy="356616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45336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452628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62B34"/>
                </a:solidFill>
                <a:latin typeface="Aptos"/>
              </a:defRPr>
            </a:pPr>
            <a:r>
              <a:t>Find and select a pretrained model that can create a music track from a text description.</a:t>
            </a:r>
            <a:br/>
            <a:br/>
            <a:r>
              <a:t>Then run the model locally.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17320"/>
            <a:ext cx="4846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417320"/>
            <a:ext cx="64008" cy="356616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45336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Aptos"/>
              </a:defRPr>
            </a:pPr>
            <a:r>
              <a:t>Resource Consideration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84248"/>
            <a:ext cx="452628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62B34"/>
                </a:solidFill>
                <a:latin typeface="Aptos"/>
              </a:defRPr>
            </a:pPr>
            <a:r>
              <a:t>If hardware is limited, search for a smaller model.</a:t>
            </a:r>
            <a:br/>
            <a:br/>
            <a:r>
              <a:t>The chapter specifically suggests looking for models with “small” in their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  <a:latin typeface="Aptos"/>
              </a:defRPr>
            </a:pPr>
            <a:r>
              <a:t>The task reinforces the chapter's main skill: selecting a model based on the task and available resources.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2.9.2 Text-to-Audio —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facebook/musicgen-small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64008" cy="41148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9616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864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333756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facebook/musicgen-small</a:t>
            </a:r>
            <a:br/>
            <a:br/>
            <a:r>
              <a:t>A pretrained model used for text-conditioned music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71600"/>
            <a:ext cx="3063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371600"/>
            <a:ext cx="64008" cy="41148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499616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Prompt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38528"/>
            <a:ext cx="274320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“lo-fi music with a soothing melody”</a:t>
            </a:r>
            <a:br/>
            <a:br/>
            <a:r>
              <a:t>The text prompt describes the musical characteristics to generate.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520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64008" cy="41148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9" y="1499616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938528"/>
            <a:ext cx="320040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B34"/>
                </a:solidFill>
                <a:latin typeface="Aptos"/>
              </a:defRPr>
            </a:pPr>
            <a:r>
              <a:t>Generated audio is represented as audio data and saved as a WAV file in the chapter's example.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Text-to-Audio: Conceptual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The same reusable pattern appears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Define Task</a:t>
            </a:r>
          </a:p>
        </p:txBody>
      </p:sp>
      <p:sp>
        <p:nvSpPr>
          <p:cNvPr id="7" name="Chevron 6"/>
          <p:cNvSpPr/>
          <p:nvPr/>
        </p:nvSpPr>
        <p:spPr>
          <a:xfrm>
            <a:off x="2898648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Select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5367528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Text Prompt</a:t>
            </a:r>
          </a:p>
        </p:txBody>
      </p:sp>
      <p:sp>
        <p:nvSpPr>
          <p:cNvPr id="11" name="Chevron 10"/>
          <p:cNvSpPr/>
          <p:nvPr/>
        </p:nvSpPr>
        <p:spPr>
          <a:xfrm>
            <a:off x="7836407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Generate Music</a:t>
            </a:r>
          </a:p>
        </p:txBody>
      </p:sp>
      <p:sp>
        <p:nvSpPr>
          <p:cNvPr id="13" name="Chevron 12"/>
          <p:cNvSpPr/>
          <p:nvPr/>
        </p:nvSpPr>
        <p:spPr>
          <a:xfrm>
            <a:off x="10305288" y="2029968"/>
            <a:ext cx="256032" cy="329184"/>
          </a:xfrm>
          <a:prstGeom prst="chevron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0704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864"/>
                </a:solidFill>
                <a:latin typeface="Aptos"/>
              </a:defRPr>
            </a:pPr>
            <a:r>
              <a:t>Save /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F3864"/>
                </a:solidFill>
                <a:latin typeface="Aptos"/>
              </a:defRPr>
            </a:pPr>
            <a:r>
              <a:t>Task + model selection + prompt + inference + output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605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160520"/>
            <a:ext cx="64008" cy="13258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28853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28346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Text-to-audio / music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1605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26280" y="4160520"/>
            <a:ext cx="64008" cy="13258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428853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727448"/>
            <a:ext cx="28346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facebook/musicgen-small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1605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4160520"/>
            <a:ext cx="64008" cy="13258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28853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27448"/>
            <a:ext cx="28346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B34"/>
                </a:solidFill>
                <a:latin typeface="Aptos"/>
              </a:defRPr>
            </a:pPr>
            <a:r>
              <a:t>Generated music/audio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Comparing the Chapter's Pretrained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Different tasks require different model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 in the chapter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Summarization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Long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Shorter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sshleifer/distilbart-cnn-12-6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Translation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English text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Japanese text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Mitsua/elan-mt-bt-en-ja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 +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Label scores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facebook/bart-large-mnli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Fill-mask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 + mask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Likely tokens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bert-base-uncased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Question answering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Question +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deepset/roberta-base-squad2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NER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Entities + labels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dslim/bert-base-NER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Text-to-image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amused/amused-256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Text-to-audio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Music prompt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B34"/>
                          </a:solidFill>
                          <a:latin typeface="Aptos"/>
                        </a:defRPr>
                      </a:pPr>
                      <a:r>
                        <a:t>facebook/musicgen-small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370"/>
                </a:solidFill>
                <a:latin typeface="Aptos"/>
              </a:defRPr>
            </a:pPr>
            <a:r>
              <a:t>Model names are taken from the chapter examples; actual suitability depends on the intended application.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The Common Pattern Across 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Once you understand one task, the workflow becomes reusable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1. Define the task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15000" y="1645919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2. Search Hugging Face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15000" y="2286000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377439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3. Filter candidate models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15000" y="2926079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301752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4. Read the model card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15000" y="3566160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5. Select model + task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15000" y="4206240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429768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6. Prepare input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715000" y="4846320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4937759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7. Run inference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15000" y="5486399"/>
            <a:ext cx="365760" cy="201168"/>
          </a:xfrm>
          <a:prstGeom prst="downArrow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89120" y="5577840"/>
            <a:ext cx="3429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864"/>
                </a:solidFill>
                <a:latin typeface="Aptos"/>
              </a:defRPr>
            </a:pPr>
            <a:r>
              <a:t>8. Evaluate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600200"/>
            <a:ext cx="29718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F3864"/>
                </a:solidFill>
                <a:latin typeface="Aptos"/>
              </a:defRPr>
            </a:pPr>
            <a:r>
              <a:t>The chapter is not mainly about memorizing APIs.</a:t>
            </a:r>
            <a:br/>
            <a:br/>
            <a:r>
              <a:t>It teaches a reusable way to think about pretrained-model selection and application.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600200"/>
            <a:ext cx="292608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B7B8C"/>
                </a:solidFill>
                <a:latin typeface="Aptos"/>
              </a:defRPr>
            </a:pPr>
            <a:r>
              <a:t>Task</a:t>
            </a:r>
            <a:br/>
            <a:r>
              <a:t>→ Model</a:t>
            </a:r>
            <a:br/>
            <a:r>
              <a:t>→ Input</a:t>
            </a:r>
            <a:br/>
            <a:r>
              <a:t>→ Inference</a:t>
            </a:r>
            <a:br/>
            <a:r>
              <a:t>→ Output</a:t>
            </a:r>
            <a:br/>
            <a:br/>
            <a:r>
              <a:t>Then evaluate whether the result is suitable.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How to Select a Pretrained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B6370"/>
                </a:solidFill>
                <a:latin typeface="Aptos"/>
              </a:defRPr>
            </a:pPr>
            <a:r>
              <a:t>A practical checklist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1  Identify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Translation? QA? NER? Generation?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64008" cy="16002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2  Check the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7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Text, image, audio or another modality?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64008" cy="160020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453895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3  Define the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892807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Text, label, entity, image or audio?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383280"/>
            <a:ext cx="64008" cy="1600200"/>
          </a:xfrm>
          <a:prstGeom prst="rect">
            <a:avLst/>
          </a:prstGeom>
          <a:solidFill>
            <a:srgbClr val="3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11296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4  Check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50208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Language, task support and intended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383280"/>
            <a:ext cx="64008" cy="160020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511296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5  Check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50208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Model size, CPU/GPU needs and latency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64008" cy="160020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511296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Aptos"/>
              </a:defRPr>
            </a:pPr>
            <a:r>
              <a:t>6  Read the model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50208"/>
            <a:ext cx="3108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2B34"/>
                </a:solidFill>
                <a:latin typeface="Aptos"/>
              </a:defRPr>
            </a:pPr>
            <a:r>
              <a:t>Training, evaluation, limitations, usage and license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864"/>
                </a:solidFill>
                <a:latin typeface="Aptos"/>
              </a:defRPr>
            </a:pPr>
            <a:r>
              <a:t>Key takeaway: choose the simplest pretrained model that adequately meets the task requirements.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rPr dirty="0"/>
              <a:t>Chapter 2 — Final </a:t>
            </a:r>
            <a:r>
              <a:rPr lang="en-IN" dirty="0"/>
              <a:t>Summary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Pretrained models allow us to reuse learned capabilities instead of training every model from scratch.</a:t>
            </a:r>
          </a:p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Hugging Face provides a practical ecosystem for discovering models, datasets, tools and model documentation.</a:t>
            </a:r>
          </a:p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Task-specific models can be preferable to very large models when the task is simple, latency matters, or local deployment is required.</a:t>
            </a:r>
          </a:p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Different tasks require different pretrained models: summarization, translation, zero-shot classification, fill-mask, QA, NER, text-to-image and text-to-audio.</a:t>
            </a:r>
          </a:p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Model cards are essential for understanding intended use, capabilities, limitations and deployment considerations.</a:t>
            </a:r>
          </a:p>
          <a:p>
            <a:pPr>
              <a:spcAft>
                <a:spcPts val="500"/>
              </a:spcAft>
              <a:defRPr sz="1650">
                <a:solidFill>
                  <a:srgbClr val="262B34"/>
                </a:solidFill>
                <a:latin typeface="Aptos"/>
              </a:defRPr>
            </a:pPr>
            <a:r>
              <a:t>• The recurring skill is: identify the task → select the model → understand the model → run inference → evaluate the result.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3864"/>
                </a:solidFill>
                <a:latin typeface="Aptos Display"/>
              </a:defRPr>
            </a:pPr>
            <a:r>
              <a:t>Chapter 2 — What Students Should Be Able to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370"/>
                </a:solidFill>
                <a:latin typeface="Aptos"/>
              </a:defRPr>
            </a:pPr>
            <a:r>
              <a:t>Chapter 2 • Pretrained Models • Based on Gollnick, Generative AI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370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4297680"/>
          </a:xfrm>
          <a:prstGeom prst="rect">
            <a:avLst/>
          </a:prstGeom>
          <a:solidFill>
            <a:srgbClr val="2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53895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297180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What a pretrained model is</a:t>
            </a:r>
            <a:br/>
            <a:r>
              <a:t>• Why model selection matters</a:t>
            </a:r>
            <a:br/>
            <a:r>
              <a:t>• What Hugging Face provides</a:t>
            </a:r>
            <a:br/>
            <a:r>
              <a:t>• What a model card contains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64008" cy="4297680"/>
          </a:xfrm>
          <a:prstGeom prst="rect">
            <a:avLst/>
          </a:prstGeom>
          <a:solidFill>
            <a:srgbClr val="2B7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53895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7"/>
            <a:ext cx="297180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Summarization</a:t>
            </a:r>
            <a:br/>
            <a:r>
              <a:t>• Translation</a:t>
            </a:r>
            <a:br/>
            <a:r>
              <a:t>• Zero-shot classification</a:t>
            </a:r>
            <a:br/>
            <a:r>
              <a:t>• Fill-mask</a:t>
            </a:r>
            <a:br/>
            <a:r>
              <a:t>• Question answering</a:t>
            </a:r>
            <a:br/>
            <a:r>
              <a:t>• 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4297680"/>
          </a:xfrm>
          <a:prstGeom prst="rect">
            <a:avLst/>
          </a:prstGeom>
          <a:solidFill>
            <a:srgbClr val="C4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53895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Aptos"/>
              </a:defRPr>
            </a:pPr>
            <a:r>
              <a:t>Generative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297180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B34"/>
                </a:solidFill>
                <a:latin typeface="Aptos"/>
              </a:defRPr>
            </a:pPr>
            <a:r>
              <a:t>• Text-to-image</a:t>
            </a:r>
            <a:br/>
            <a:r>
              <a:t>• Text-to-audio</a:t>
            </a:r>
            <a:br/>
            <a:r>
              <a:t>• Resource considerations</a:t>
            </a:r>
            <a:br/>
            <a:r>
              <a:t>• Model/task matching</a:t>
            </a:r>
            <a:br/>
            <a:r>
              <a:t>• Inference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370"/>
                </a:solidFill>
                <a:latin typeface="Aptos"/>
              </a:defRPr>
            </a:pPr>
            <a:r>
              <a:t>Capstone project intentionally omitted, as requested.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4426</Words>
  <Application>Microsoft Office PowerPoint</Application>
  <PresentationFormat>Widescreen</PresentationFormat>
  <Paragraphs>644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Inter</vt:lpstr>
      <vt:lpstr>Inter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Sutapa Mahato</cp:lastModifiedBy>
  <cp:revision>5</cp:revision>
  <dcterms:created xsi:type="dcterms:W3CDTF">2013-01-27T09:14:16Z</dcterms:created>
  <dcterms:modified xsi:type="dcterms:W3CDTF">2026-08-21T08:21:38Z</dcterms:modified>
  <cp:category/>
</cp:coreProperties>
</file>