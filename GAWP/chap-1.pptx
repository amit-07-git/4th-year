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3" r:id="rId5"/>
    <p:sldId id="258" r:id="rId6"/>
    <p:sldId id="259" r:id="rId7"/>
    <p:sldId id="260" r:id="rId8"/>
    <p:sldId id="261" r:id="rId9"/>
    <p:sldId id="266" r:id="rId10"/>
    <p:sldId id="262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14" y="-83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067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7695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2597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2226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7238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02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5443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88183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1566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1738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1843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45EA8-16D1-438C-B248-248542466EC4}" type="datetimeFigureOut">
              <a:rPr lang="en-IN" smtClean="0"/>
              <a:t>18-08-2026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7FE78-0BA8-405A-A567-16DC0604B2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38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188640"/>
            <a:ext cx="7772400" cy="1470025"/>
          </a:xfrm>
        </p:spPr>
        <p:txBody>
          <a:bodyPr>
            <a:noAutofit/>
          </a:bodyPr>
          <a:lstStyle/>
          <a:p>
            <a:r>
              <a:rPr lang="en-IN" sz="2800" b="1" dirty="0" smtClean="0"/>
              <a:t>Chapter-1</a:t>
            </a:r>
            <a:br>
              <a:rPr lang="en-IN" sz="2800" b="1" dirty="0" smtClean="0"/>
            </a:br>
            <a:r>
              <a:rPr lang="en-IN" sz="2800" b="1" dirty="0" smtClean="0"/>
              <a:t>Introduction </a:t>
            </a:r>
            <a:r>
              <a:rPr lang="en-IN" sz="2800" b="1" dirty="0"/>
              <a:t>to Generative AI</a:t>
            </a:r>
            <a:r>
              <a:rPr lang="en-IN" sz="2800" dirty="0"/>
              <a:t/>
            </a:r>
            <a:br>
              <a:rPr lang="en-IN" sz="2800" dirty="0"/>
            </a:br>
            <a:endParaRPr lang="en-IN" sz="2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03648" y="5877272"/>
            <a:ext cx="6400800" cy="1152128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</a:rPr>
              <a:t>Prepared By</a:t>
            </a:r>
          </a:p>
          <a:p>
            <a:r>
              <a:rPr lang="en-US" sz="2000" dirty="0" smtClean="0">
                <a:solidFill>
                  <a:schemeClr val="tx1"/>
                </a:solidFill>
              </a:rPr>
              <a:t>Dr. Rasmita Rautray</a:t>
            </a:r>
            <a:endParaRPr lang="en-IN" sz="2000" dirty="0">
              <a:solidFill>
                <a:schemeClr val="tx1"/>
              </a:solidFill>
            </a:endParaRPr>
          </a:p>
        </p:txBody>
      </p:sp>
      <p:pic>
        <p:nvPicPr>
          <p:cNvPr id="1026" name="Picture 2" descr="C:\Users\Rasmita Rautray\Pictures\Screenshots\Screenshot (374)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5816" y="1340768"/>
            <a:ext cx="3170287" cy="454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744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1.1 Introduction to Artificial Intelligence</a:t>
            </a:r>
            <a:r>
              <a:rPr lang="en-IN" sz="3600" b="1" dirty="0"/>
              <a:t/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7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Rise of </a:t>
            </a:r>
            <a:r>
              <a:rPr lang="en-IN" dirty="0" err="1"/>
              <a:t>ChatGPT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204864"/>
            <a:ext cx="6480720" cy="367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7869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764704"/>
            <a:ext cx="8229600" cy="103671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Evolution of AI and it’s importance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700808"/>
            <a:ext cx="8368496" cy="30963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3478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1.2 Pillars of Generative AI Advancement</a:t>
            </a:r>
            <a:r>
              <a:rPr lang="en-IN" sz="3600" b="1" dirty="0"/>
              <a:t/>
            </a:r>
            <a:br>
              <a:rPr lang="en-IN" sz="3600" b="1" dirty="0"/>
            </a:br>
            <a:endParaRPr lang="en-IN" sz="3600" dirty="0"/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971600" y="1207786"/>
            <a:ext cx="5616624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Computational Power</a:t>
            </a: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Model and Data Size</a:t>
            </a: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Investments</a:t>
            </a: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Char char="•"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Algorithmic Improvements</a:t>
            </a:r>
            <a:endParaRPr kumimoji="0" lang="en-US" sz="3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5311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06090"/>
          </a:xfrm>
        </p:spPr>
        <p:txBody>
          <a:bodyPr>
            <a:noAutofit/>
          </a:bodyPr>
          <a:lstStyle/>
          <a:p>
            <a:pPr lvl="1" algn="ctr" rtl="0">
              <a:spcBef>
                <a:spcPct val="0"/>
              </a:spcBef>
            </a:pPr>
            <a:r>
              <a:rPr lang="en-IN" sz="3600" dirty="0" smtClean="0">
                <a:latin typeface="+mn-lt"/>
              </a:rPr>
              <a:t>1.3 Deep </a:t>
            </a:r>
            <a:r>
              <a:rPr lang="en-IN" sz="3600" dirty="0">
                <a:latin typeface="+mn-lt"/>
              </a:rPr>
              <a:t>Learning	</a:t>
            </a:r>
            <a:r>
              <a:rPr lang="en-IN" sz="2800" dirty="0">
                <a:latin typeface="+mn-lt"/>
              </a:rPr>
              <a:t/>
            </a:r>
            <a:br>
              <a:rPr lang="en-IN" sz="2800" dirty="0">
                <a:latin typeface="+mn-lt"/>
              </a:rPr>
            </a:br>
            <a:endParaRPr lang="en-IN" sz="3600" dirty="0">
              <a:latin typeface="+mn-lt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1280919"/>
            <a:ext cx="4968552" cy="2076073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/>
          <p:cNvSpPr/>
          <p:nvPr/>
        </p:nvSpPr>
        <p:spPr>
          <a:xfrm>
            <a:off x="432048" y="908720"/>
            <a:ext cx="5580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000" dirty="0"/>
              <a:t>Traditional Programming </a:t>
            </a:r>
            <a:r>
              <a:rPr lang="en-IN" sz="2000" dirty="0" err="1"/>
              <a:t>vs</a:t>
            </a:r>
            <a:r>
              <a:rPr lang="en-IN" sz="2000" dirty="0"/>
              <a:t> Machine Learning	</a:t>
            </a:r>
          </a:p>
        </p:txBody>
      </p:sp>
      <p:sp>
        <p:nvSpPr>
          <p:cNvPr id="6" name="Rectangle 5"/>
          <p:cNvSpPr/>
          <p:nvPr/>
        </p:nvSpPr>
        <p:spPr>
          <a:xfrm>
            <a:off x="611560" y="3429000"/>
            <a:ext cx="34456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000" dirty="0"/>
              <a:t>Deep Learning: Model Training</a:t>
            </a:r>
          </a:p>
        </p:txBody>
      </p:sp>
      <p:pic>
        <p:nvPicPr>
          <p:cNvPr id="7" name="Picture 6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0516" y="3846254"/>
            <a:ext cx="6333852" cy="28231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08096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1.4 Narrow AI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49238" y="876294"/>
            <a:ext cx="4381128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Calibri" pitchFamily="34" charset="0"/>
                <a:cs typeface="Times New Roman" pitchFamily="18" charset="0"/>
              </a:rPr>
              <a:t>Narrow AI Achievements</a:t>
            </a:r>
            <a:endParaRPr kumimoji="0" lang="en-US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3073" name="Picture 8"/>
          <p:cNvPicPr>
            <a:picLocks noChangeAspect="1" noChangeArrowheads="1"/>
          </p:cNvPicPr>
          <p:nvPr/>
        </p:nvPicPr>
        <p:blipFill>
          <a:blip r:embed="rId2">
            <a:lum bright="-16000" contrast="3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8397" y="1725166"/>
            <a:ext cx="8696091" cy="2135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457200" y="179070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69564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1.5 Natural Language Processing Models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540768"/>
          </a:xfrm>
        </p:spPr>
        <p:txBody>
          <a:bodyPr/>
          <a:lstStyle/>
          <a:p>
            <a:r>
              <a:rPr lang="en-US" dirty="0" smtClean="0"/>
              <a:t>What is NLP?</a:t>
            </a:r>
          </a:p>
          <a:p>
            <a:r>
              <a:rPr lang="en-US" dirty="0" smtClean="0"/>
              <a:t>NLP Tasks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2996952"/>
            <a:ext cx="5959283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64769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1.6 Large Language Models 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79512" y="1052736"/>
            <a:ext cx="2970300" cy="1051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12696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LLM Training Process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rgbClr val="4F81BD"/>
              </a:solidFill>
              <a:effectLst/>
              <a:latin typeface="Cambria" pitchFamily="18" charset="0"/>
              <a:ea typeface="Times New Roman" pitchFamily="18" charset="0"/>
              <a:cs typeface="Times New Roman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36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716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52249"/>
            <a:ext cx="7632848" cy="322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705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404664"/>
            <a:ext cx="5194920" cy="850106"/>
          </a:xfrm>
        </p:spPr>
        <p:txBody>
          <a:bodyPr>
            <a:noAutofit/>
          </a:bodyPr>
          <a:lstStyle/>
          <a:p>
            <a:pPr algn="l"/>
            <a:r>
              <a:rPr lang="en-IN" sz="3600" dirty="0"/>
              <a:t>Use Cases of LLMs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5616" y="908720"/>
            <a:ext cx="5040560" cy="2836912"/>
          </a:xfrm>
        </p:spPr>
        <p:txBody>
          <a:bodyPr>
            <a:normAutofit/>
          </a:bodyPr>
          <a:lstStyle/>
          <a:p>
            <a:r>
              <a:rPr lang="en-IN" sz="2400" dirty="0"/>
              <a:t>Creative </a:t>
            </a:r>
            <a:r>
              <a:rPr lang="en-IN" sz="2400" dirty="0" smtClean="0"/>
              <a:t>Writing</a:t>
            </a:r>
          </a:p>
          <a:p>
            <a:r>
              <a:rPr lang="en-IN" sz="2400" dirty="0" smtClean="0"/>
              <a:t>Summarization</a:t>
            </a:r>
          </a:p>
          <a:p>
            <a:r>
              <a:rPr lang="en-IN" sz="2400" dirty="0" err="1" smtClean="0"/>
              <a:t>Chatbots</a:t>
            </a:r>
            <a:r>
              <a:rPr lang="en-IN" sz="2400" dirty="0" smtClean="0"/>
              <a:t> </a:t>
            </a:r>
            <a:r>
              <a:rPr lang="en-IN" sz="2400" dirty="0"/>
              <a:t>and Virtual </a:t>
            </a:r>
            <a:r>
              <a:rPr lang="en-IN" sz="2400" dirty="0" smtClean="0"/>
              <a:t>Assistants </a:t>
            </a:r>
            <a:endParaRPr lang="en-IN" sz="2400" dirty="0"/>
          </a:p>
          <a:p>
            <a:r>
              <a:rPr lang="en-IN" sz="2400" dirty="0" smtClean="0"/>
              <a:t>Translation</a:t>
            </a:r>
          </a:p>
          <a:p>
            <a:r>
              <a:rPr lang="en-IN" sz="2400" dirty="0" smtClean="0"/>
              <a:t>Content Creation </a:t>
            </a:r>
            <a:endParaRPr lang="en-IN" sz="2400" dirty="0"/>
          </a:p>
          <a:p>
            <a:r>
              <a:rPr lang="en-IN" sz="2400" dirty="0" smtClean="0"/>
              <a:t>Education </a:t>
            </a:r>
            <a:endParaRPr lang="en-IN" sz="2400" dirty="0"/>
          </a:p>
          <a:p>
            <a:endParaRPr lang="en-IN" sz="2400" dirty="0"/>
          </a:p>
        </p:txBody>
      </p:sp>
      <p:sp>
        <p:nvSpPr>
          <p:cNvPr id="4" name="Rectangle 3"/>
          <p:cNvSpPr/>
          <p:nvPr/>
        </p:nvSpPr>
        <p:spPr>
          <a:xfrm>
            <a:off x="611560" y="3613666"/>
            <a:ext cx="380713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dirty="0">
                <a:latin typeface="+mj-lt"/>
                <a:ea typeface="+mj-ea"/>
                <a:cs typeface="+mj-cs"/>
              </a:rPr>
              <a:t>Limitations of LLMs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87624" y="4437112"/>
            <a:ext cx="5345631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/>
              <a:t>Hallucinations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400" dirty="0" smtClean="0"/>
              <a:t>Bias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IN" sz="2400" dirty="0"/>
              <a:t>Context Window and Token Limitations</a:t>
            </a:r>
          </a:p>
          <a:p>
            <a:pPr marL="285750" indent="-285750">
              <a:buFont typeface="Arial" pitchFamily="34" charset="0"/>
              <a:buChar char="•"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663084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1.7 Large Multimodal Models (LMMs) </a:t>
            </a:r>
            <a:br>
              <a:rPr lang="en-IN" sz="3600" dirty="0"/>
            </a:br>
            <a:endParaRPr lang="en-IN" sz="3600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484784"/>
            <a:ext cx="6844016" cy="4083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1359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IN" sz="3600" dirty="0"/>
              <a:t>1.8 Generative AI Applications </a:t>
            </a:r>
            <a:br>
              <a:rPr lang="en-IN" sz="3600" dirty="0"/>
            </a:br>
            <a:endParaRPr lang="en-IN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87624" y="1556792"/>
            <a:ext cx="6203032" cy="3124944"/>
          </a:xfrm>
        </p:spPr>
        <p:txBody>
          <a:bodyPr>
            <a:normAutofit/>
          </a:bodyPr>
          <a:lstStyle/>
          <a:p>
            <a:r>
              <a:rPr lang="en-IN" sz="2800" dirty="0"/>
              <a:t>Consumer </a:t>
            </a:r>
            <a:r>
              <a:rPr lang="en-IN" sz="2800" dirty="0" smtClean="0"/>
              <a:t>Applications</a:t>
            </a:r>
          </a:p>
          <a:p>
            <a:r>
              <a:rPr lang="en-IN" sz="2800" dirty="0"/>
              <a:t>Enterprise – Horizontal </a:t>
            </a:r>
            <a:r>
              <a:rPr lang="en-IN" sz="2800" dirty="0" smtClean="0"/>
              <a:t>Applications</a:t>
            </a:r>
          </a:p>
          <a:p>
            <a:r>
              <a:rPr lang="en-IN" sz="2800" dirty="0"/>
              <a:t>Enterprise – Vertical </a:t>
            </a:r>
            <a:r>
              <a:rPr lang="en-IN" sz="2800" dirty="0" smtClean="0"/>
              <a:t>Applications</a:t>
            </a:r>
          </a:p>
          <a:p>
            <a:r>
              <a:rPr lang="en-IN" sz="2800" dirty="0" err="1"/>
              <a:t>Prosumer</a:t>
            </a:r>
            <a:r>
              <a:rPr lang="en-IN" sz="2800" dirty="0"/>
              <a:t> Applications</a:t>
            </a:r>
          </a:p>
        </p:txBody>
      </p:sp>
    </p:spTree>
    <p:extLst>
      <p:ext uri="{BB962C8B-B14F-4D97-AF65-F5344CB8AC3E}">
        <p14:creationId xmlns:p14="http://schemas.microsoft.com/office/powerpoint/2010/main" val="191068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121</Words>
  <Application>Microsoft Office PowerPoint</Application>
  <PresentationFormat>On-screen Show (4:3)</PresentationFormat>
  <Paragraphs>38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Chapter-1 Introduction to Generative AI </vt:lpstr>
      <vt:lpstr>1.1 Introduction to Artificial Intelligence </vt:lpstr>
      <vt:lpstr>PowerPoint Presentation</vt:lpstr>
      <vt:lpstr>1.2 Pillars of Generative AI Advancement </vt:lpstr>
      <vt:lpstr>1.3 Deep Learning  </vt:lpstr>
      <vt:lpstr>1.4 Narrow AI </vt:lpstr>
      <vt:lpstr>1.5 Natural Language Processing Models </vt:lpstr>
      <vt:lpstr>1.6 Large Language Models  </vt:lpstr>
      <vt:lpstr>Use Cases of LLMs </vt:lpstr>
      <vt:lpstr>1.7 Large Multimodal Models (LMMs)  </vt:lpstr>
      <vt:lpstr>1.8 Generative AI Applications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Rasmita Rautray</dc:creator>
  <cp:lastModifiedBy>Rasmita Rautray</cp:lastModifiedBy>
  <cp:revision>6</cp:revision>
  <dcterms:created xsi:type="dcterms:W3CDTF">2026-08-18T05:19:47Z</dcterms:created>
  <dcterms:modified xsi:type="dcterms:W3CDTF">2026-08-18T08:30:08Z</dcterms:modified>
</cp:coreProperties>
</file>